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은지 신" userId="1dfd05033030117a" providerId="LiveId" clId="{BA797F0D-59B3-40F3-88F9-22691A38FC4C}"/>
    <pc:docChg chg="undo custSel modSld">
      <pc:chgData name="은지 신" userId="1dfd05033030117a" providerId="LiveId" clId="{BA797F0D-59B3-40F3-88F9-22691A38FC4C}" dt="2026-07-14T11:19:40.116" v="60" actId="1076"/>
      <pc:docMkLst>
        <pc:docMk/>
      </pc:docMkLst>
      <pc:sldChg chg="modSp mod">
        <pc:chgData name="은지 신" userId="1dfd05033030117a" providerId="LiveId" clId="{BA797F0D-59B3-40F3-88F9-22691A38FC4C}" dt="2026-07-14T08:20:46.674" v="45" actId="1076"/>
        <pc:sldMkLst>
          <pc:docMk/>
          <pc:sldMk cId="0" sldId="260"/>
        </pc:sldMkLst>
        <pc:spChg chg="mod">
          <ac:chgData name="은지 신" userId="1dfd05033030117a" providerId="LiveId" clId="{BA797F0D-59B3-40F3-88F9-22691A38FC4C}" dt="2026-07-14T08:20:46.674" v="45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은지 신" userId="1dfd05033030117a" providerId="LiveId" clId="{BA797F0D-59B3-40F3-88F9-22691A38FC4C}" dt="2026-07-14T05:49:30.346" v="0" actId="14100"/>
          <ac:spMkLst>
            <pc:docMk/>
            <pc:sldMk cId="0" sldId="260"/>
            <ac:spMk id="13" creationId="{00000000-0000-0000-0000-000000000000}"/>
          </ac:spMkLst>
        </pc:spChg>
      </pc:sldChg>
      <pc:sldChg chg="addSp delSp modSp mod">
        <pc:chgData name="은지 신" userId="1dfd05033030117a" providerId="LiveId" clId="{BA797F0D-59B3-40F3-88F9-22691A38FC4C}" dt="2026-07-14T10:25:32.366" v="47" actId="1076"/>
        <pc:sldMkLst>
          <pc:docMk/>
          <pc:sldMk cId="0" sldId="261"/>
        </pc:sldMkLst>
        <pc:spChg chg="mod">
          <ac:chgData name="은지 신" userId="1dfd05033030117a" providerId="LiveId" clId="{BA797F0D-59B3-40F3-88F9-22691A38FC4C}" dt="2026-07-14T05:51:22.579" v="37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은지 신" userId="1dfd05033030117a" providerId="LiveId" clId="{BA797F0D-59B3-40F3-88F9-22691A38FC4C}" dt="2026-07-14T10:25:32.366" v="47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38.159" v="40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02.554" v="32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23.261" v="39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10" creationId="{00000000-0000-0000-0000-000000000000}"/>
          </ac:spMkLst>
        </pc:spChg>
        <pc:spChg chg="add del mod">
          <ac:chgData name="은지 신" userId="1dfd05033030117a" providerId="LiveId" clId="{BA797F0D-59B3-40F3-88F9-22691A38FC4C}" dt="2026-07-14T05:51:02.554" v="32" actId="14100"/>
          <ac:spMkLst>
            <pc:docMk/>
            <pc:sldMk cId="0" sldId="261"/>
            <ac:spMk id="11" creationId="{00000000-0000-0000-0000-000000000000}"/>
          </ac:spMkLst>
        </pc:spChg>
        <pc:spChg chg="add del mod">
          <ac:chgData name="은지 신" userId="1dfd05033030117a" providerId="LiveId" clId="{BA797F0D-59B3-40F3-88F9-22691A38FC4C}" dt="2026-07-14T05:51:02.554" v="32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38.159" v="40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23.261" v="39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38.159" v="40" actId="1076"/>
          <ac:spMkLst>
            <pc:docMk/>
            <pc:sldMk cId="0" sldId="261"/>
            <ac:spMk id="15" creationId="{00000000-0000-0000-0000-000000000000}"/>
          </ac:spMkLst>
        </pc:spChg>
        <pc:spChg chg="add del 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16" creationId="{00000000-0000-0000-0000-000000000000}"/>
          </ac:spMkLst>
        </pc:spChg>
        <pc:spChg chg="add del 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38.159" v="40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20" creationId="{00000000-0000-0000-0000-000000000000}"/>
          </ac:spMkLst>
        </pc:spChg>
        <pc:spChg chg="add del 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21" creationId="{00000000-0000-0000-0000-000000000000}"/>
          </ac:spMkLst>
        </pc:spChg>
        <pc:spChg chg="add del mod">
          <ac:chgData name="은지 신" userId="1dfd05033030117a" providerId="LiveId" clId="{BA797F0D-59B3-40F3-88F9-22691A38FC4C}" dt="2026-07-14T05:51:02.554" v="32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38.159" v="40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38.159" v="40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23.261" v="39" actId="14100"/>
          <ac:spMkLst>
            <pc:docMk/>
            <pc:sldMk cId="0" sldId="261"/>
            <ac:spMk id="25" creationId="{00000000-0000-0000-0000-000000000000}"/>
          </ac:spMkLst>
        </pc:spChg>
        <pc:spChg chg="add del mod">
          <ac:chgData name="은지 신" userId="1dfd05033030117a" providerId="LiveId" clId="{BA797F0D-59B3-40F3-88F9-22691A38FC4C}" dt="2026-07-14T05:51:02.554" v="32" actId="14100"/>
          <ac:spMkLst>
            <pc:docMk/>
            <pc:sldMk cId="0" sldId="261"/>
            <ac:spMk id="26" creationId="{00000000-0000-0000-0000-000000000000}"/>
          </ac:spMkLst>
        </pc:spChg>
        <pc:spChg chg="add del 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59.860" v="43" actId="107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38.159" v="40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은지 신" userId="1dfd05033030117a" providerId="LiveId" clId="{BA797F0D-59B3-40F3-88F9-22691A38FC4C}" dt="2026-07-14T05:51:53.258" v="42" actId="1076"/>
          <ac:spMkLst>
            <pc:docMk/>
            <pc:sldMk cId="0" sldId="261"/>
            <ac:spMk id="31" creationId="{00000000-0000-0000-0000-000000000000}"/>
          </ac:spMkLst>
        </pc:spChg>
      </pc:sldChg>
      <pc:sldChg chg="modSp mod">
        <pc:chgData name="은지 신" userId="1dfd05033030117a" providerId="LiveId" clId="{BA797F0D-59B3-40F3-88F9-22691A38FC4C}" dt="2026-07-14T11:19:40.116" v="60" actId="1076"/>
        <pc:sldMkLst>
          <pc:docMk/>
          <pc:sldMk cId="0" sldId="262"/>
        </pc:sldMkLst>
        <pc:spChg chg="mod">
          <ac:chgData name="은지 신" userId="1dfd05033030117a" providerId="LiveId" clId="{BA797F0D-59B3-40F3-88F9-22691A38FC4C}" dt="2026-07-14T11:19:40.116" v="60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08.713" v="53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08.713" v="53" actId="1410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17.658" v="55" actId="14100"/>
          <ac:spMkLst>
            <pc:docMk/>
            <pc:sldMk cId="0" sldId="262"/>
            <ac:spMk id="28" creationId="{00000000-0000-0000-0000-000000000000}"/>
          </ac:spMkLst>
        </pc:spChg>
        <pc:spChg chg="mod">
          <ac:chgData name="은지 신" userId="1dfd05033030117a" providerId="LiveId" clId="{BA797F0D-59B3-40F3-88F9-22691A38FC4C}" dt="2026-07-14T11:19:27.394" v="58" actId="14100"/>
          <ac:spMkLst>
            <pc:docMk/>
            <pc:sldMk cId="0" sldId="262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89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교육·연구 협력 제안서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치기공 교육·연구를 위한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실증 데이터 공동 구축 제안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0" cy="8229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77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치기공 현장의 경험과 판단을,
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교육하고 연구할 수 있는 데이터로 전환합니다.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치기공학과  ×  Paraegis ( CrownOps 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제안의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제안의 한 문장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102714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신구대의 치기공 실습 케이스와 교수진의 전문성을, 교육과 연구에 반복적으로 활용할 수 있는 구조화 데이터로 함께 구축하고자 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신구대가 보유한 것은 단순한 STL 파일이나 실습 결과물이 아닙니다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926275" cy="105156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69080"/>
            <a:ext cx="17433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실습 과정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40675" y="4069080"/>
            <a:ext cx="1926275" cy="105156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2932115" y="4069080"/>
            <a:ext cx="17433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판단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32710" y="4069080"/>
            <a:ext cx="1926275" cy="105156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5224150" y="4069080"/>
            <a:ext cx="17433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교수자의 피드백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24745" y="4069080"/>
            <a:ext cx="1926275" cy="105156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7516185" y="4069080"/>
            <a:ext cx="17433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반복적으로 발생하는 오류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716780" y="4069080"/>
            <a:ext cx="1926275" cy="105156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9808220" y="4069080"/>
            <a:ext cx="17433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 · 후의 변화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440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CrownOps는 이러한 경험을 </a:t>
            </a: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단위 데이터</a:t>
            </a:r>
            <a:r>
              <a:rPr lang="en-US" sz="15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구조화합니다.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제안의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치기공 과정의 많은 문제는</a:t>
            </a:r>
            <a:endParaRPr lang="en-US" sz="2500" dirty="0"/>
          </a:p>
          <a:p>
            <a:pPr marL="0" indent="0" algn="l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아니라 과정에서 시작됩니다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제작의뢰서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80360" y="196596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965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 스캔 · 설계 파일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32120" y="196596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196596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965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· 쉐이드 · 임플란트 조건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83880" y="196596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503920" y="196596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965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담당자의 판단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31256" y="301752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931256" y="2999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32808" y="352044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632808" y="3520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진행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다음과 같은 문제가 발생할 수 있습니다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3515258" cy="411480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75488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의뢰 정보 누락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38218" y="4754880"/>
            <a:ext cx="3515258" cy="411480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</p:spPr>
      </p:sp>
      <p:sp>
        <p:nvSpPr>
          <p:cNvPr id="23" name="Text 21"/>
          <p:cNvSpPr/>
          <p:nvPr/>
        </p:nvSpPr>
        <p:spPr>
          <a:xfrm>
            <a:off x="4475378" y="475488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파일 누락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7797" y="4754880"/>
            <a:ext cx="3515258" cy="411480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8264957" y="475488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의뢰서와 파일 불일치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3515258" cy="411480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25780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수정본과 구버전 혼재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8218" y="5257800"/>
            <a:ext cx="3515258" cy="411480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</p:spPr>
      </p:sp>
      <p:sp>
        <p:nvSpPr>
          <p:cNvPr id="29" name="Text 27"/>
          <p:cNvSpPr/>
          <p:nvPr/>
        </p:nvSpPr>
        <p:spPr>
          <a:xfrm>
            <a:off x="4475378" y="525780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임플란트 정보 불완전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27797" y="5257800"/>
            <a:ext cx="3515258" cy="411480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8264957" y="5257800"/>
            <a:ext cx="32409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케이스 미발견 후 제작 진행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결과만 기록하면, 왜 문제가 발생했는지는 남지 않습니다.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제안의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“리메이크가 발생했다”만으로는 부족합니다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18608" cy="3931920"/>
          </a:xfrm>
          <a:prstGeom prst="roundRect">
            <a:avLst>
              <a:gd name="adj" fmla="val 186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주로 남는 정보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467852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51760"/>
            <a:ext cx="43127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리메이크 발생</a:t>
            </a:r>
            <a:endParaRPr lang="en-US" sz="14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스캔 오류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1860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644488" y="2057400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필요로 하는 정보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44488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5968" y="2606040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케이스에서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44488" y="32278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5968" y="3227832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정보가 부족했고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44488" y="38496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55968" y="3849624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어떻게 판단했으며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44488" y="44714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55968" y="4471416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단계에서 발견되었고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44488" y="50932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55968" y="5093208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조치·결과로 이어졌는가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오류의 결과가 아니라, 오류가 발생하고 발견되는 전체 맥락을 데이터화해야 합니다.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제안의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연구는 빠르게 성장하고 있지만,</a:t>
            </a:r>
            <a:endParaRPr lang="en-US" sz="2200" dirty="0"/>
          </a:p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케이스 데이터는 비어 있습니다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4298" cy="1417320"/>
          </a:xfrm>
          <a:prstGeom prst="roundRect">
            <a:avLst>
              <a:gd name="adj" fmla="val 4516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328 → 703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치과·구강외과 AI/ML 출판물 수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(WoSCC, 2022→2024, 약 2.1배)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68698" y="1874520"/>
            <a:ext cx="3454298" cy="1417320"/>
          </a:xfrm>
          <a:prstGeom prst="roundRect">
            <a:avLst>
              <a:gd name="adj" fmla="val 4516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4551578" y="196596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51578" y="256032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구강스캐너·디지털치의학 연구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성장률 (Scopus, 1998~2023)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8757" y="1874520"/>
            <a:ext cx="3454298" cy="1417320"/>
          </a:xfrm>
          <a:prstGeom prst="roundRect">
            <a:avLst>
              <a:gd name="adj" fmla="val 4516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/>
          <p:nvPr/>
        </p:nvSpPr>
        <p:spPr>
          <a:xfrm>
            <a:off x="8371637" y="196596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2,234편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71637" y="2560320"/>
            <a:ext cx="30885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 ML 관련 문헌 수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(WoSCC, 2010~2024)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94415" cy="2057400"/>
          </a:xfrm>
          <a:prstGeom prst="roundRect">
            <a:avLst>
              <a:gd name="adj" fmla="val 359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연구의 중심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스캐너 정확도 · 영상 진단 AI · 치료계획 · 임상 노트 NLP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비어 있는 교차 영역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의뢰서 + 3D 파일 + 재료·임플란트 조건 + 학생·전문가 판단 + 조치·결과를 하나의 케이스로 연결해 “제작 전에 진행해도 되는가”를 검증하는 연구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우리가 함께 만들고자 하는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경험을 ‘연구 가능한 케이스 데이터’로 전환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9960" y="15270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15270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구축 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9960" y="1847088"/>
            <a:ext cx="2197200" cy="704088"/>
          </a:xfrm>
          <a:prstGeom prst="roundRect">
            <a:avLst>
              <a:gd name="adj" fmla="val 6944"/>
            </a:avLst>
          </a:prstGeom>
          <a:solidFill>
            <a:srgbClr val="F5F7FA"/>
          </a:solidFill>
          <a:ln/>
        </p:spPr>
        <p:txBody>
          <a:bodyPr/>
          <a:lstStyle/>
          <a:p>
            <a:pPr algn="ctr"/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778560" y="1847088"/>
            <a:ext cx="195837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경험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89280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0" y="1892808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8928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구조화된 케이스 데이터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9960" y="2615184"/>
            <a:ext cx="2197200" cy="704088"/>
          </a:xfrm>
          <a:prstGeom prst="roundRect">
            <a:avLst>
              <a:gd name="adj" fmla="val 6944"/>
            </a:avLst>
          </a:prstGeom>
          <a:solidFill>
            <a:srgbClr val="F5F7FA"/>
          </a:solidFill>
          <a:ln/>
        </p:spPr>
        <p:txBody>
          <a:bodyPr/>
          <a:lstStyle/>
          <a:p>
            <a:pPr algn="ctr"/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8560" y="2615184"/>
            <a:ext cx="195837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교수자의 판단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6609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0" y="2660904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266090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기준 데이터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9960" y="3383280"/>
            <a:ext cx="2197200" cy="704088"/>
          </a:xfrm>
          <a:prstGeom prst="roundRect">
            <a:avLst>
              <a:gd name="adj" fmla="val 6944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8560" y="3383280"/>
            <a:ext cx="195837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실수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342900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0" y="3429000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886200" y="34290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데이터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9960" y="4151376"/>
            <a:ext cx="2197200" cy="704088"/>
          </a:xfrm>
          <a:prstGeom prst="roundRect">
            <a:avLst>
              <a:gd name="adj" fmla="val 6944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778560" y="4151376"/>
            <a:ext cx="195837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· 재작업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419709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0" y="4197096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886200" y="419709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데이터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9960" y="4919472"/>
            <a:ext cx="2197200" cy="704088"/>
          </a:xfrm>
          <a:prstGeom prst="roundRect">
            <a:avLst>
              <a:gd name="adj" fmla="val 6944"/>
            </a:avLst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778560" y="4919472"/>
            <a:ext cx="195837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경험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0" y="4965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657600" y="4965192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0" y="49651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가능한 데이터셋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0830" y="5829113"/>
            <a:ext cx="5693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사라지는 실습 경험을, 축적되는 교육 · 연구 자산으로 전환합니다.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우리가 함께 만들고자 하는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파일이 아닌, ‘제작 맥락이 포함된 데이터’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70503" y="491129"/>
            <a:ext cx="3898232" cy="288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ID  2026-0125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49377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21992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보철 유형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0" y="2221992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Implant Crown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69464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Upper / Lower / Bite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0" y="2569464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존재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9377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16936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Scanbody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0" y="2916936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64408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Implant manufacturer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264408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49377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11880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Implant system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3611880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959352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판단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0" y="3959352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 가능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06824"/>
            <a:ext cx="49377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06824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판단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4306824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654296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교수자 판단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74720" y="4654296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재문의 필요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01768"/>
            <a:ext cx="49377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001768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조치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74720" y="5001768"/>
            <a:ext cx="2761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재문의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5349240"/>
            <a:ext cx="19491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1" y="5349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제작 사전 차단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55280" y="1691640"/>
            <a:ext cx="3687775" cy="3931920"/>
          </a:xfrm>
          <a:prstGeom prst="roundRect">
            <a:avLst>
              <a:gd name="adj" fmla="val 1736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1965960"/>
            <a:ext cx="3139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2331720"/>
            <a:ext cx="31391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판단 → 오류 → 조치 → 결과를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케이스로 연결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우리가 함께 만들고자 하는 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케이스 안에서 전체 과정을 연결합니다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58569" cy="2651760"/>
          </a:xfrm>
          <a:prstGeom prst="roundRect">
            <a:avLst>
              <a:gd name="adj" fmla="val 3308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1658569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16585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4756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 정보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47568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치식 · 보철 · 재료 · 쉐이드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61489" y="2103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35809" y="2103120"/>
            <a:ext cx="1658569" cy="2651760"/>
          </a:xfrm>
          <a:prstGeom prst="roundRect">
            <a:avLst>
              <a:gd name="adj" fmla="val 3308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35809" y="2103120"/>
            <a:ext cx="1658569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435809" y="2103120"/>
            <a:ext cx="16585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27249" y="2743200"/>
            <a:ext cx="14756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파일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27249" y="3246120"/>
            <a:ext cx="147568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Upper · Lower · Bite · 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48658" y="2103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22978" y="2103120"/>
            <a:ext cx="1658569" cy="2651760"/>
          </a:xfrm>
          <a:prstGeom prst="roundRect">
            <a:avLst>
              <a:gd name="adj" fmla="val 3308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2978" y="2103120"/>
            <a:ext cx="1658569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322978" y="2103120"/>
            <a:ext cx="16585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14418" y="2743200"/>
            <a:ext cx="14756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조건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14418" y="3246120"/>
            <a:ext cx="147568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임플란트 · Scanbody · Abutment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35828" y="2103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148" y="2103120"/>
            <a:ext cx="1658569" cy="2651760"/>
          </a:xfrm>
          <a:prstGeom prst="roundRect">
            <a:avLst>
              <a:gd name="adj" fmla="val 3308"/>
            </a:avLst>
          </a:prstGeom>
          <a:solidFill>
            <a:srgbClr val="F5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0148" y="2103120"/>
            <a:ext cx="1658569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0148" y="2103120"/>
            <a:ext cx="16585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1588" y="2743200"/>
            <a:ext cx="14756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1588" y="3246120"/>
            <a:ext cx="147568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→ 시스템 → 교수자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22997" y="2103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97317" y="2103120"/>
            <a:ext cx="1658569" cy="2651760"/>
          </a:xfrm>
          <a:prstGeom prst="roundRect">
            <a:avLst>
              <a:gd name="adj" fmla="val 3308"/>
            </a:avLst>
          </a:prstGeom>
          <a:solidFill>
            <a:srgbClr val="F5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7317" y="2103120"/>
            <a:ext cx="1658569" cy="502920"/>
          </a:xfrm>
          <a:prstGeom prst="roundRect">
            <a:avLst>
              <a:gd name="adj" fmla="val 10909"/>
            </a:avLst>
          </a:prstGeom>
          <a:solidFill>
            <a:srgbClr val="E08E45"/>
          </a:solidFill>
          <a:ln/>
        </p:spPr>
      </p:sp>
      <p:sp>
        <p:nvSpPr>
          <p:cNvPr id="30" name="Text 28"/>
          <p:cNvSpPr/>
          <p:nvPr/>
        </p:nvSpPr>
        <p:spPr>
          <a:xfrm>
            <a:off x="8097317" y="2103120"/>
            <a:ext cx="16585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88757" y="2743200"/>
            <a:ext cx="14756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및 조치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88757" y="3246120"/>
            <a:ext cx="147568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· CHECK · REQUERY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10166" y="2103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84486" y="2103120"/>
            <a:ext cx="1658569" cy="2651760"/>
          </a:xfrm>
          <a:prstGeom prst="roundRect">
            <a:avLst>
              <a:gd name="adj" fmla="val 3308"/>
            </a:avLst>
          </a:prstGeom>
          <a:solidFill>
            <a:srgbClr val="F5F7FA"/>
          </a:solidFill>
          <a:ln/>
        </p:spPr>
      </p:sp>
      <p:sp>
        <p:nvSpPr>
          <p:cNvPr id="35" name="Shape 33"/>
          <p:cNvSpPr/>
          <p:nvPr/>
        </p:nvSpPr>
        <p:spPr>
          <a:xfrm>
            <a:off x="9984486" y="2103120"/>
            <a:ext cx="1658569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984486" y="2103120"/>
            <a:ext cx="16585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75926" y="2743200"/>
            <a:ext cx="147568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75926" y="3246120"/>
            <a:ext cx="147568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· 재문의 · 재작업 · 리메이크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분리되어 있던 정보를 Case ID 하나로 연결합니다.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교육적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‘작업 능력’뿐 아니라</a:t>
            </a:r>
            <a:endParaRPr lang="en-US" sz="2400" dirty="0"/>
          </a:p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‘판단 능력’을 분석합니다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10048" cy="621792"/>
          </a:xfrm>
          <a:prstGeom prst="roundRect">
            <a:avLst>
              <a:gd name="adj" fmla="val 8824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4724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학생들은 어느 단계에서 가장 많이 실수하는가?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3008" y="2057400"/>
            <a:ext cx="5410048" cy="621792"/>
          </a:xfrm>
          <a:prstGeom prst="roundRect">
            <a:avLst>
              <a:gd name="adj" fmla="val 8824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6370168" y="205740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35928" y="2057400"/>
            <a:ext cx="4724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오류를 반복적으로 놓치는가?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410048" cy="621792"/>
          </a:xfrm>
          <a:prstGeom prst="roundRect">
            <a:avLst>
              <a:gd name="adj" fmla="val 8824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3464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4724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학년별 판단에는 어떤 차이가 있는가?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2834640"/>
            <a:ext cx="5410048" cy="621792"/>
          </a:xfrm>
          <a:prstGeom prst="roundRect">
            <a:avLst>
              <a:gd name="adj" fmla="val 8824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6370168" y="283464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35928" y="2834640"/>
            <a:ext cx="4724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학생과 교수자의 판단은 어디에서 달라지는가?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410048" cy="621792"/>
          </a:xfrm>
          <a:prstGeom prst="roundRect">
            <a:avLst>
              <a:gd name="adj" fmla="val 8824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1188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611880"/>
            <a:ext cx="4724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이후 어떤 오류가 감소하는가?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3611880"/>
            <a:ext cx="5410048" cy="621792"/>
          </a:xfrm>
          <a:prstGeom prst="roundRect">
            <a:avLst>
              <a:gd name="adj" fmla="val 8824"/>
            </a:avLst>
          </a:prstGeom>
          <a:solidFill>
            <a:srgbClr val="EE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6370168" y="361188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35928" y="3611880"/>
            <a:ext cx="4724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숙련도가 높아져도 반복되는 오류는 무엇인가?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0749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9AA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“CAD를 사용할 수 있는가?”  →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“제작 가능한 케이스와 위험한 케이스를 구분할 수 있는가?”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교육적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판단 과정을 평가할 수 있습니다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218883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항목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67523" y="1874520"/>
            <a:ext cx="2218883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67523" y="18745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판단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6406" y="1874520"/>
            <a:ext cx="2218883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6406" y="18745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판단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05289" y="1874520"/>
            <a:ext cx="2218883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289" y="18745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교수자 판단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24172" y="1874520"/>
            <a:ext cx="2218883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24172" y="18745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317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67523" y="23317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7523" y="23317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6406" y="23317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6406" y="23317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05289" y="23317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289" y="23317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24172" y="23317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24172" y="23317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7889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7889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67523" y="27889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7523" y="27889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6406" y="27889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6406" y="27889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8E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05289" y="27889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289" y="27889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24172" y="27889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24172" y="27889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누락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2461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2461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Scanbody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67523" y="32461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67523" y="32461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86406" y="32461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6406" y="32461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8E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05289" y="32461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289" y="32461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24172" y="3246120"/>
            <a:ext cx="221888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24172" y="32461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오류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37033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033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67523" y="37033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67523" y="37033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8E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86406" y="37033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6406" y="37033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8E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205289" y="37033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289" y="37033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8E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424172" y="3703320"/>
            <a:ext cx="221888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24172" y="3703320"/>
            <a:ext cx="22188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진행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가능 항목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48640" y="4800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판단 정확도   ·   교수자와의 판단 차이   ·   반복적 오판 항목   ·   교육 전 · 후 변화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교수자의 암묵적 판단 기준을, 교육 가능한 형태로 체계화합니다.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연구적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표현을, 분석 가능한 데이터 기준으로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치기공 오류 분류체계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RX-005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65960" y="21488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임플란트 정보 누락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FILE-001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960" y="26060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파일 누락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SCAN-003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30632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Bite 누락 · 이상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204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IMP-004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65960" y="35204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Scanbody 불일치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PRECAM-003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65960" y="39776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없이 제작 진행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943600" cy="73152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72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“스캔이 이상함”  →  </a:t>
            </a: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SCAN-003 / Bite abnormality / Pre-CAM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보철 유형별 최소 제작 정보 세트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49440" y="2148840"/>
            <a:ext cx="4693615" cy="13716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2286000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Crown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2606040"/>
            <a:ext cx="4236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치식 · 보철 종류 · 재료 · 쉐이드 · Upper · Lower · Bite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3657600"/>
            <a:ext cx="4693615" cy="164592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3794760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Implant Crown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4114800"/>
            <a:ext cx="4236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 + 임플란트 제조사 · 시스템 · 플랫폼 · Scanbody · Abutment 조건 · Hex/Non-Hex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연구적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정량적인 교육 근거로 전환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45738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17997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오류 중 파일 누락 비율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22978" y="1828800"/>
            <a:ext cx="3545738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05858" y="1828800"/>
            <a:ext cx="317997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보철 유형별 주요 오류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97317" y="1828800"/>
            <a:ext cx="3545738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80197" y="1828800"/>
            <a:ext cx="317997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학년별 반복 오류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545738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317997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· 교수자 판단 일치율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2978" y="2606040"/>
            <a:ext cx="3545738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05858" y="2606040"/>
            <a:ext cx="317997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전 · 후 오류 감소율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7317" y="2606040"/>
            <a:ext cx="3545738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80197" y="2606040"/>
            <a:ext cx="317997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REQUERY 발생 주요 원인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45738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83280"/>
            <a:ext cx="317997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재작업과 연결되는 선행 오류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5185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892040"/>
            <a:ext cx="103628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“학생들이 많이 실수한다”
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“전체 오류의 31%가 Bite 및 파일 완전성 확인 단계에서 발생했다”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실제 수치는 협력 데이터 구축 후 산출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연구적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데이터셋에서 다양한 후속 연구가 가능합니다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4778" cy="3200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484778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연구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27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학생과 전문가의 제작 가능 여부 판단 차이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264408"/>
            <a:ext cx="3027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교육 전 · 후 제작 전 검증 능력 변화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3458" y="1874520"/>
            <a:ext cx="3484778" cy="3200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353458" y="1874520"/>
            <a:ext cx="3484778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53458" y="187452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2058" y="2606040"/>
            <a:ext cx="3027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디지털 치기공 오류 분류체계 구축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2058" y="3264408"/>
            <a:ext cx="3027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보철 유형별 최소 제작 정보 세트 연구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8277" y="1874520"/>
            <a:ext cx="3484778" cy="3200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8277" y="1874520"/>
            <a:ext cx="3484778" cy="502920"/>
          </a:xfrm>
          <a:prstGeom prst="roundRect">
            <a:avLst>
              <a:gd name="adj" fmla="val 12727"/>
            </a:avLst>
          </a:prstGeom>
          <a:solidFill>
            <a:srgbClr val="E08E45"/>
          </a:solidFill>
          <a:ln/>
        </p:spPr>
      </p:sp>
      <p:sp>
        <p:nvSpPr>
          <p:cNvPr id="16" name="Text 14"/>
          <p:cNvSpPr/>
          <p:nvPr/>
        </p:nvSpPr>
        <p:spPr>
          <a:xfrm>
            <a:off x="8158277" y="187452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자동화 연구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6877" y="2606040"/>
            <a:ext cx="3027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제작 전 위험 케이스 탐지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86877" y="3264408"/>
            <a:ext cx="3027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스캔 및 파일 이상 탐지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86877" y="3922776"/>
            <a:ext cx="30275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의뢰 정보 정형화 및 자동 검증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논문화 및 학술 발표로 확장 가능한 실증 기반 구축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협력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신구대와 CrownOps는 각각 무엇을 제공하는가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18608" cy="3794760"/>
          </a:xfrm>
          <a:prstGeom prst="roundRect">
            <a:avLst>
              <a:gd name="adj" fmla="val 1687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신구대학교가 제공하는 전문성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6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실습 케이스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76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제작의뢰 정보 · STL/PLY/OBJ · 스캔·설계 데이터 · 수정 전후 결과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76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교수자의 전문적 판단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22192"/>
            <a:ext cx="476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가능 여부 · 필수 확인 항목 · 제작 중단 기준 · 위험 요소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476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교육 과정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828032"/>
            <a:ext cx="476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최초 판단 · 교수자 피드백 · 반복 오류 · 교육 전후 변화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4448" y="1828800"/>
            <a:ext cx="5318608" cy="3794760"/>
          </a:xfrm>
          <a:prstGeom prst="roundRect">
            <a:avLst>
              <a:gd name="adj" fmla="val 168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98768" y="2011680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CrownOps가 수행하는 역할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98768" y="253288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598768" y="2532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2816" y="2514600"/>
            <a:ext cx="435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케이스 수집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98768" y="312724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98768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82816" y="3108960"/>
            <a:ext cx="435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 및 Case ID 부여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98768" y="372160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3721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82816" y="3703320"/>
            <a:ext cx="435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 · 파일 · 조건 데이터 구조화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98768" y="431596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598768" y="4315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82816" y="4297680"/>
            <a:ext cx="435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· 교수자 판단 연결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98768" y="491032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598768" y="4910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2816" y="4892040"/>
            <a:ext cx="4358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유형 분류 및 리포트 제공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핵심 가치는 파일 자체가 아니라, 그 파일을 해석하는 전문성입니다.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협력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흐름과 책임, 소유권을 먼저 명확히 합니다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 2단계 원칙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10048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495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비식별화  </a:t>
            </a:r>
            <a:r>
              <a:rPr lang="en-US" sz="11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신구대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5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성명 · 차트번호 등 직접 식별자 제거 또는 가명 처리 (학교 내부 규정 기준)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3008" y="2194560"/>
            <a:ext cx="5410048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461608" y="2331720"/>
            <a:ext cx="495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익명화  </a:t>
            </a:r>
            <a:r>
              <a:rPr lang="en-US" sz="11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CrownOps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61608" y="2697480"/>
            <a:ext cx="495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 · 메타데이터 · 자유서술 필드의 잔여 식별 요소 제거, 처리 로그 보관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— 식별 가능 상태의 원본은 CrownOps로 이동하지 않습니다.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18608" cy="164592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0624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구조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486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— 파일럿 합의서 (비밀유지 · 사용 범위 · 익명화 원칙, 1~2쪽)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— 정식 산학협력 MOU (데이터셋 공동 구축 · 소유 · 활용)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24448" y="4069080"/>
            <a:ext cx="5318608" cy="164592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53048" y="420624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소유권과 성과물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53048" y="4526280"/>
            <a:ext cx="486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데이터셋 — 신구대와 CrownOps 공동 소유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 논문 · 발표 — 옵션 제안 (필수 조건 아님)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· 신구대가 얻는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 이후 실제로 남는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756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32888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치기공 실습 오류 데이터셋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케이스별 오류와 판단 과정 구조화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8218" y="196596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521098" y="20756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1098" y="2532888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· 재작업 분석 리포트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1098" y="30632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보철 · 공정 · 오류 유형별 분석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7797" y="196596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310677" y="20756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10677" y="2532888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교육용 제작 전 검증 루브릭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10677" y="30632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판단 능력 평가 도구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044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361688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치기공 오류 분류체계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코드 기반 오류 구조화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38218" y="379476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21098" y="39044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21098" y="4361688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제작 정보 세트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1098" y="48920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보철 유형별 필수 제작 정보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27797" y="379476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310677" y="39044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10677" y="4361688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연구용 케이스 데이터 구조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10677" y="489204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공동 연구가 가능한 데이터 기반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7 · 구체적인 협력 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범위의 파일럿부터 시작하고자 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74520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874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04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미팅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문제의식 공유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확인 항목 3개 질의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(IRB · 내부승인 · 학생동의)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개인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1965960"/>
            <a:ext cx="746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821528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82152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40" dirty="0"/>
          </a:p>
        </p:txBody>
      </p:sp>
      <p:sp>
        <p:nvSpPr>
          <p:cNvPr id="13" name="Text 11"/>
          <p:cNvSpPr/>
          <p:nvPr/>
        </p:nvSpPr>
        <p:spPr>
          <a:xfrm>
            <a:off x="4495648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95648" y="306324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4678528" y="31546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과목 · 한 학기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 케이스 20~30건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교수자 판단 라벨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95648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+ 학과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96048" y="1965960"/>
            <a:ext cx="746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68535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768535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40" dirty="0"/>
          </a:p>
        </p:txBody>
      </p:sp>
      <p:sp>
        <p:nvSpPr>
          <p:cNvPr id="20" name="Text 18"/>
          <p:cNvSpPr/>
          <p:nvPr/>
        </p:nvSpPr>
        <p:spPr>
          <a:xfrm>
            <a:off x="8442655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42655" y="306324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8625535" y="31546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결과 공유 후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MOU 체결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공동 구축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42655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학과 · 산학협력단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대규모 데이터를 요청하는 것이 아니라, 작은 범위에서 협력 가능성을 함께 검증하고자 합니다.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02336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7 · 구체적인 협력 제안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협력을 위해 요청드리는 사항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실습 케이스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00200"/>
            <a:ext cx="825977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제작의뢰서 · STL/PLY/OBJ · 보철 종류/재료/쉐이드 · 임플란트 조건 (익명화된 범위 내)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4415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교수자 판단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377440"/>
            <a:ext cx="825977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케이스별 제작 가능 / 확인 필요 / 추가 정보 필요 판단 및 주요 근거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94415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5468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연구 방향 논의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3154680"/>
            <a:ext cx="825977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교육적으로 의미 있는 분석 항목 · 공동 연구 가능 주제 · 데이터 수집 방식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및 기관 식별정보는 제거하고, 구체적인 활용 범위는 사전 협의를 통해 결정합니다.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94415" cy="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치기공 교육 현장의 경험을, 사라지는 경험으로 두지 않겠습니다.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신구대학교와 함께, 치기공 교육 · 연구를 위한 새로운 데이터 기반을 구축하고 싶습니다.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× Paraegis (CrownOps)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1594</Words>
  <Application>Microsoft Office PowerPoint</Application>
  <PresentationFormat>와이드스크린</PresentationFormat>
  <Paragraphs>373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은지 신</cp:lastModifiedBy>
  <cp:revision>1</cp:revision>
  <dcterms:created xsi:type="dcterms:W3CDTF">2026-07-14T05:37:52Z</dcterms:created>
  <dcterms:modified xsi:type="dcterms:W3CDTF">2026-07-14T11:19:47Z</dcterms:modified>
</cp:coreProperties>
</file>