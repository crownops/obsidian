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KDTEX 2026 소개 커버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KDTEX가 무슨 행사인지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일정과 장소, 교통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 디지털, 슬로건, 라이브 강의 특색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가면 볼 수 있는 것들 (PDF 반영)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 참가 업체 리스트 및 부스 현황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누가 보면 좋을까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전시회 관람 안내 · 스텝별 흐름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정리 · 마무리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50" b="3958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6000"/>
                </a:srgbClr>
              </a:gs>
              <a:gs pos="20000">
                <a:srgbClr val="003C38">
                  <a:alpha val="6000"/>
                </a:srgbClr>
              </a:gs>
              <a:gs pos="42000">
                <a:srgbClr val="004640">
                  <a:alpha val="32000"/>
                </a:srgbClr>
              </a:gs>
              <a:gs pos="60000">
                <a:srgbClr val="045A52">
                  <a:alpha val="64000"/>
                </a:srgbClr>
              </a:gs>
              <a:gs pos="75000">
                <a:srgbClr val="06695E">
                  <a:alpha val="87000"/>
                </a:srgbClr>
              </a:gs>
              <a:gs pos="88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1141809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323850" y="8054182"/>
            <a:ext cx="9639300" cy="311150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90" kern="0" dirty="0">
                <a:solidFill>
                  <a:srgbClr val="BDF6EC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DENTAL TECHNOLOGY EXPO &amp; SCIENTIFIC CONFERENCE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3850" y="8479631"/>
            <a:ext cx="9639300" cy="979091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38100" dir="540000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0" b="1" spc="-312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KDTEX </a:t>
            </a:r>
            <a:pPr algn="ctr" indent="0" marL="0">
              <a:lnSpc>
                <a:spcPct val="95000"/>
              </a:lnSpc>
              <a:buNone/>
            </a:pPr>
            <a:r>
              <a:rPr lang="en-US" sz="7800" b="1" spc="-312" kern="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1000" y="9630172"/>
            <a:ext cx="1905000" cy="400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80011" y="10068323"/>
            <a:ext cx="2726879" cy="673100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69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뭐냐면요</a:t>
            </a:r>
            <a:endParaRPr lang="en-US" sz="3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1000" y="10741422"/>
            <a:ext cx="1905000" cy="4000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555" y="11312922"/>
            <a:ext cx="9025890" cy="783828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F7FFFC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치과기공계 최대 학술·전시 행사, 1분 만에 정리해드릴게요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562" b="3646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4000"/>
                </a:srgbClr>
              </a:gs>
              <a:gs pos="18000">
                <a:srgbClr val="003C38">
                  <a:alpha val="5000"/>
                </a:srgbClr>
              </a:gs>
              <a:gs pos="40000">
                <a:srgbClr val="004640">
                  <a:alpha val="30000"/>
                </a:srgbClr>
              </a:gs>
              <a:gs pos="58000">
                <a:srgbClr val="045A52">
                  <a:alpha val="62000"/>
                </a:srgbClr>
              </a:gs>
              <a:gs pos="74000">
                <a:srgbClr val="06695E">
                  <a:alpha val="87000"/>
                </a:srgbClr>
              </a:gs>
              <a:gs pos="87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2283619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375" y="9075738"/>
            <a:ext cx="200025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45818" y="9513888"/>
            <a:ext cx="3395365" cy="615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spc="-63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무슨 행사냐면</a:t>
            </a:r>
            <a:endParaRPr lang="en-US" sz="3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3375" y="10129838"/>
            <a:ext cx="2000250" cy="4000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" y="10720388"/>
            <a:ext cx="90258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F7FFFC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치과기공 학술강연과 기자재 전시, 두 가지를 한자리에서 볼 수 있어요</a:t>
            </a:r>
            <a:endParaRPr lang="en-US" sz="2025" dirty="0"/>
          </a:p>
        </p:txBody>
      </p:sp>
      <p:sp>
        <p:nvSpPr>
          <p:cNvPr id="12" name="Text 6"/>
          <p:cNvSpPr/>
          <p:nvPr/>
        </p:nvSpPr>
        <p:spPr>
          <a:xfrm>
            <a:off x="323850" y="11644313"/>
            <a:ext cx="9639300" cy="452438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175" b="1" spc="-22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치과기공계 대표 행사예요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000" b="11667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4000"/>
                </a:srgbClr>
              </a:gs>
              <a:gs pos="18000">
                <a:srgbClr val="003C38">
                  <a:alpha val="5000"/>
                </a:srgbClr>
              </a:gs>
              <a:gs pos="38000">
                <a:srgbClr val="004640">
                  <a:alpha val="30000"/>
                </a:srgbClr>
              </a:gs>
              <a:gs pos="56000">
                <a:srgbClr val="045A52">
                  <a:alpha val="60000"/>
                </a:srgbClr>
              </a:gs>
              <a:gs pos="72000">
                <a:srgbClr val="06695E">
                  <a:alpha val="85000"/>
                </a:srgbClr>
              </a:gs>
              <a:gs pos="86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3425528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375" y="7123509"/>
            <a:ext cx="200025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71089" y="7561659"/>
            <a:ext cx="3744724" cy="615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spc="-63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언제, 어디서 열려요?</a:t>
            </a:r>
            <a:endParaRPr lang="en-US" sz="3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3375" y="8177610"/>
            <a:ext cx="2000250" cy="4000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2000" y="8825310"/>
            <a:ext cx="8763000" cy="1143595"/>
          </a:xfrm>
          <a:prstGeom prst="roundRect">
            <a:avLst>
              <a:gd name="adj" fmla="val 18324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323850" dist="152400" dir="5400000">
              <a:srgbClr val="000000">
                <a:alpha val="24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1028700" y="9130407"/>
            <a:ext cx="533400" cy="5334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2050" y="9263757"/>
            <a:ext cx="266700" cy="266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2600" y="9053910"/>
            <a:ext cx="47138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752600" y="9346010"/>
            <a:ext cx="3563332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2026. 7. 17.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spc="-54" kern="0" dirty="0">
                <a:solidFill>
                  <a:srgbClr val="00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(금)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19.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spc="-54" kern="0" dirty="0">
                <a:solidFill>
                  <a:srgbClr val="00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(일)</a:t>
            </a:r>
            <a:endParaRPr lang="en-US" sz="2700" dirty="0"/>
          </a:p>
        </p:txBody>
      </p:sp>
      <p:sp>
        <p:nvSpPr>
          <p:cNvPr id="16" name="Shape 9"/>
          <p:cNvSpPr/>
          <p:nvPr/>
        </p:nvSpPr>
        <p:spPr>
          <a:xfrm>
            <a:off x="762000" y="10102255"/>
            <a:ext cx="8763000" cy="1143595"/>
          </a:xfrm>
          <a:prstGeom prst="roundRect">
            <a:avLst>
              <a:gd name="adj" fmla="val 18324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323850" dist="152400" dir="5400000">
              <a:srgbClr val="000000">
                <a:alpha val="24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1028700" y="10407353"/>
            <a:ext cx="533400" cy="5334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2050" y="10540703"/>
            <a:ext cx="266700" cy="266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52600" y="10330855"/>
            <a:ext cx="47138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1752600" y="10622955"/>
            <a:ext cx="3750727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일산 KINTEX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00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제2전시장</a:t>
            </a:r>
            <a:endParaRPr lang="en-US" sz="2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11496675"/>
            <a:ext cx="190500" cy="1905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47750" y="11455401"/>
            <a:ext cx="29247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GTX-A 킨텍스역에서 도보 이동</a:t>
            </a:r>
            <a:endParaRPr lang="en-US" sz="18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11874501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28700" y="11823700"/>
            <a:ext cx="400922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FFC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보수교육 일정은 7.18(토) ~ 7.19(일)로 안내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020" b="12729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282C">
                  <a:alpha val="18000"/>
                </a:srgbClr>
              </a:gs>
              <a:gs pos="20000">
                <a:srgbClr val="003232">
                  <a:alpha val="8000"/>
                </a:srgbClr>
              </a:gs>
              <a:gs pos="42000">
                <a:srgbClr val="00413C">
                  <a:alpha val="34000"/>
                </a:srgbClr>
              </a:gs>
              <a:gs pos="60000">
                <a:srgbClr val="045A52">
                  <a:alpha val="64000"/>
                </a:srgbClr>
              </a:gs>
              <a:gs pos="75000">
                <a:srgbClr val="06695E">
                  <a:alpha val="87000"/>
                </a:srgbClr>
              </a:gs>
              <a:gs pos="88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4567337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6250" y="8337848"/>
            <a:ext cx="1714500" cy="361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83281" y="8728373"/>
            <a:ext cx="1920438" cy="482600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spc="-24" kern="0" dirty="0">
                <a:solidFill>
                  <a:srgbClr val="BD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올해의 키워드</a:t>
            </a:r>
            <a:endParaRPr lang="en-US" sz="2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250" y="9201448"/>
            <a:ext cx="1714500" cy="361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3850" y="9696748"/>
            <a:ext cx="9639300" cy="934145"/>
          </a:xfrm>
          <a:prstGeom prst="rect">
            <a:avLst/>
          </a:prstGeom>
          <a:noFill/>
          <a:ln/>
          <a:effectLst>
            <a:outerShdw sx="100000" sy="100000" kx="0" ky="0" algn="bl" rotWithShape="0" blurRad="247650" dist="38100" dir="540000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200" b="1" spc="-288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</a:t>
            </a:r>
            <a:endParaRPr lang="en-US" sz="7200" dirty="0"/>
          </a:p>
        </p:txBody>
      </p:sp>
      <p:sp>
        <p:nvSpPr>
          <p:cNvPr id="12" name="Text 6"/>
          <p:cNvSpPr/>
          <p:nvPr/>
        </p:nvSpPr>
        <p:spPr>
          <a:xfrm>
            <a:off x="323850" y="10783293"/>
            <a:ext cx="9639300" cy="475258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550" b="1" spc="-51" kern="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세대를 잇고 디지털로 하나 되다</a:t>
            </a:r>
            <a:endParaRPr lang="en-US" sz="2550" dirty="0"/>
          </a:p>
        </p:txBody>
      </p:sp>
      <p:sp>
        <p:nvSpPr>
          <p:cNvPr id="13" name="Text 7"/>
          <p:cNvSpPr/>
          <p:nvPr/>
        </p:nvSpPr>
        <p:spPr>
          <a:xfrm>
            <a:off x="630555" y="11372850"/>
            <a:ext cx="9025890" cy="723900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7FFFC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강의를 넘어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BD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강의 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7FFFC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중심으로, 현장에서 바로 쓰는 디지털 지식을 담았어요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020" b="12729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6000"/>
                </a:srgbClr>
              </a:gs>
              <a:gs pos="14000">
                <a:srgbClr val="003C38">
                  <a:alpha val="6000"/>
                </a:srgbClr>
              </a:gs>
              <a:gs pos="32000">
                <a:srgbClr val="004640">
                  <a:alpha val="32000"/>
                </a:srgbClr>
              </a:gs>
              <a:gs pos="50000">
                <a:srgbClr val="045A52">
                  <a:alpha val="62000"/>
                </a:srgbClr>
              </a:gs>
              <a:gs pos="66000">
                <a:srgbClr val="06695E">
                  <a:alpha val="85000"/>
                </a:srgbClr>
              </a:gs>
              <a:gs pos="80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5719564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5750" y="6140450"/>
            <a:ext cx="209550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98123" y="6578600"/>
            <a:ext cx="3490754" cy="55880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spc="-57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가면 뭘 볼 수 있어요?</a:t>
            </a:r>
            <a:endParaRPr lang="en-US" sz="2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5750" y="7137400"/>
            <a:ext cx="2095500" cy="4000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2000" y="7708900"/>
            <a:ext cx="8763000" cy="850900"/>
          </a:xfrm>
          <a:prstGeom prst="roundRect">
            <a:avLst>
              <a:gd name="adj" fmla="val 17910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933450" y="7962900"/>
            <a:ext cx="342900" cy="3429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175" y="8048625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09700" y="7823200"/>
            <a:ext cx="24188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37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학술강연</a:t>
            </a:r>
            <a:endParaRPr lang="en-US" sz="1875" dirty="0"/>
          </a:p>
        </p:txBody>
      </p:sp>
      <p:sp>
        <p:nvSpPr>
          <p:cNvPr id="15" name="Text 8"/>
          <p:cNvSpPr/>
          <p:nvPr/>
        </p:nvSpPr>
        <p:spPr>
          <a:xfrm>
            <a:off x="1409700" y="8172450"/>
            <a:ext cx="241888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연자 강연도 준비 중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762000" y="8636000"/>
            <a:ext cx="8763000" cy="850900"/>
          </a:xfrm>
          <a:prstGeom prst="roundRect">
            <a:avLst>
              <a:gd name="adj" fmla="val 17910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933450" y="8890000"/>
            <a:ext cx="342900" cy="3429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175" y="8975725"/>
            <a:ext cx="171450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09700" y="8750300"/>
            <a:ext cx="257451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37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기자재·디지털 장비 전시</a:t>
            </a:r>
            <a:endParaRPr lang="en-US" sz="1875" dirty="0"/>
          </a:p>
        </p:txBody>
      </p:sp>
      <p:sp>
        <p:nvSpPr>
          <p:cNvPr id="20" name="Text 12"/>
          <p:cNvSpPr/>
          <p:nvPr/>
        </p:nvSpPr>
        <p:spPr>
          <a:xfrm>
            <a:off x="1409700" y="9099550"/>
            <a:ext cx="242499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보고, 체험하고, 비교까지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762000" y="9563100"/>
            <a:ext cx="8763000" cy="850900"/>
          </a:xfrm>
          <a:prstGeom prst="roundRect">
            <a:avLst>
              <a:gd name="adj" fmla="val 17910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933450" y="9817101"/>
            <a:ext cx="342900" cy="3429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9175" y="9902826"/>
            <a:ext cx="171450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409700" y="9677400"/>
            <a:ext cx="291132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37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보철작품 전시·시상</a:t>
            </a:r>
            <a:endParaRPr lang="en-US" sz="1875" dirty="0"/>
          </a:p>
        </p:txBody>
      </p:sp>
      <p:sp>
        <p:nvSpPr>
          <p:cNvPr id="25" name="Text 16"/>
          <p:cNvSpPr/>
          <p:nvPr/>
        </p:nvSpPr>
        <p:spPr>
          <a:xfrm>
            <a:off x="1409700" y="10026651"/>
            <a:ext cx="29113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회원·학생 부문, 대상 100만원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762000" y="10490200"/>
            <a:ext cx="8763000" cy="850900"/>
          </a:xfrm>
          <a:prstGeom prst="roundRect">
            <a:avLst>
              <a:gd name="adj" fmla="val 17910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3450" y="10744200"/>
            <a:ext cx="342900" cy="3429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9175" y="10829925"/>
            <a:ext cx="171450" cy="1714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409700" y="10604500"/>
            <a:ext cx="23636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37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실기경진대회</a:t>
            </a:r>
            <a:endParaRPr lang="en-US" sz="1875" dirty="0"/>
          </a:p>
        </p:txBody>
      </p:sp>
      <p:sp>
        <p:nvSpPr>
          <p:cNvPr id="30" name="Text 20"/>
          <p:cNvSpPr/>
          <p:nvPr/>
        </p:nvSpPr>
        <p:spPr>
          <a:xfrm>
            <a:off x="1409700" y="10953750"/>
            <a:ext cx="236365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부문 · 7.17(금) 오후</a:t>
            </a:r>
            <a:endParaRPr lang="en-US" sz="1800" dirty="0"/>
          </a:p>
        </p:txBody>
      </p:sp>
      <p:sp>
        <p:nvSpPr>
          <p:cNvPr id="31" name="Shape 21"/>
          <p:cNvSpPr/>
          <p:nvPr/>
        </p:nvSpPr>
        <p:spPr>
          <a:xfrm>
            <a:off x="762000" y="11417301"/>
            <a:ext cx="8763000" cy="850900"/>
          </a:xfrm>
          <a:prstGeom prst="roundRect">
            <a:avLst>
              <a:gd name="adj" fmla="val 17910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933450" y="11671300"/>
            <a:ext cx="342900" cy="3429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175" y="11757025"/>
            <a:ext cx="171450" cy="1714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409700" y="11531601"/>
            <a:ext cx="186630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37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푸짐한 경품 추첨</a:t>
            </a:r>
            <a:endParaRPr lang="en-US" sz="1875" dirty="0"/>
          </a:p>
        </p:txBody>
      </p:sp>
      <p:sp>
        <p:nvSpPr>
          <p:cNvPr id="35" name="Text 24"/>
          <p:cNvSpPr/>
          <p:nvPr/>
        </p:nvSpPr>
        <p:spPr>
          <a:xfrm>
            <a:off x="1409700" y="11880850"/>
            <a:ext cx="186630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전자제품·상품권 등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020" b="12729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6000"/>
                </a:srgbClr>
              </a:gs>
              <a:gs pos="16000">
                <a:srgbClr val="003C38">
                  <a:alpha val="6000"/>
                </a:srgbClr>
              </a:gs>
              <a:gs pos="34000">
                <a:srgbClr val="004640">
                  <a:alpha val="32000"/>
                </a:srgbClr>
              </a:gs>
              <a:gs pos="52000">
                <a:srgbClr val="045A52">
                  <a:alpha val="62000"/>
                </a:srgbClr>
              </a:gs>
              <a:gs pos="68000">
                <a:srgbClr val="06695E">
                  <a:alpha val="86000"/>
                </a:srgbClr>
              </a:gs>
              <a:gs pos="82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6861374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5750" y="7353300"/>
            <a:ext cx="209550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25686" y="7791450"/>
            <a:ext cx="3835529" cy="5905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60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업체들이 오나요?</a:t>
            </a:r>
            <a:endParaRPr lang="en-US" sz="3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5750" y="8382000"/>
            <a:ext cx="2095500" cy="4000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3850" y="8858250"/>
            <a:ext cx="9639300" cy="3111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FFC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국내외 대표 치과기업들이 한자리에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1142405" y="9321800"/>
            <a:ext cx="763588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313855" y="9417050"/>
            <a:ext cx="4968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신흥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2001242" y="9321800"/>
            <a:ext cx="973931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2172692" y="9417050"/>
            <a:ext cx="70723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메디트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3070424" y="9321800"/>
            <a:ext cx="973931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3241874" y="9417050"/>
            <a:ext cx="70723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덴티움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4139605" y="9321800"/>
            <a:ext cx="2025452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311055" y="9417050"/>
            <a:ext cx="17587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덴츠플라이시로나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260306" y="9321800"/>
            <a:ext cx="1394520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431756" y="9417050"/>
            <a:ext cx="11278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바텍코리아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7750076" y="9321800"/>
            <a:ext cx="1394520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7921526" y="9417050"/>
            <a:ext cx="11278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지씨코리아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3482181" y="9937750"/>
            <a:ext cx="973931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3653631" y="10033000"/>
            <a:ext cx="70723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덴티스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551363" y="9937750"/>
            <a:ext cx="763588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4722813" y="10033000"/>
            <a:ext cx="4968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10200" y="9937750"/>
            <a:ext cx="1394520" cy="520700"/>
          </a:xfrm>
          <a:prstGeom prst="roundRect">
            <a:avLst>
              <a:gd name="adj" fmla="val 50000"/>
            </a:avLst>
          </a:prstGeom>
          <a:solidFill>
            <a:srgbClr val="F7FFFC">
              <a:alpha val="95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5581650" y="10033000"/>
            <a:ext cx="11278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사이버메드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762000" y="10668000"/>
            <a:ext cx="8763000" cy="1504950"/>
          </a:xfrm>
          <a:prstGeom prst="roundRect">
            <a:avLst>
              <a:gd name="adj" fmla="val 13924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323850" dist="152400" dir="5400000">
              <a:srgbClr val="000000">
                <a:alpha val="24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028700" y="10896600"/>
            <a:ext cx="1604586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0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66개 업체</a:t>
            </a:r>
            <a:endParaRPr lang="en-US" sz="2850" dirty="0"/>
          </a:p>
        </p:txBody>
      </p:sp>
      <p:sp>
        <p:nvSpPr>
          <p:cNvPr id="32" name="Text 26"/>
          <p:cNvSpPr/>
          <p:nvPr/>
        </p:nvSpPr>
        <p:spPr>
          <a:xfrm>
            <a:off x="2582664" y="11099800"/>
            <a:ext cx="147208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170부스 확정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1028700" y="11512551"/>
            <a:ext cx="8229600" cy="95250"/>
          </a:xfrm>
          <a:prstGeom prst="roundRect">
            <a:avLst>
              <a:gd name="adj" fmla="val 50000"/>
            </a:avLst>
          </a:prstGeom>
          <a:solidFill>
            <a:srgbClr val="E4F3EE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8700" y="11512551"/>
            <a:ext cx="5596037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006B6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5" name="Text 29"/>
          <p:cNvSpPr/>
          <p:nvPr/>
        </p:nvSpPr>
        <p:spPr>
          <a:xfrm>
            <a:off x="1028700" y="11703051"/>
            <a:ext cx="905256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목표인 250부스를 향해 계속 늘고 있어요 </a:t>
            </a:r>
            <a:pPr algn="l" indent="0" marL="0">
              <a:buNone/>
            </a:pPr>
            <a:r>
              <a:rPr lang="en-US" sz="1575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(6월 기준)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685" b="13063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4000"/>
                </a:srgbClr>
              </a:gs>
              <a:gs pos="18000">
                <a:srgbClr val="003C38">
                  <a:alpha val="5000"/>
                </a:srgbClr>
              </a:gs>
              <a:gs pos="38000">
                <a:srgbClr val="004640">
                  <a:alpha val="30000"/>
                </a:srgbClr>
              </a:gs>
              <a:gs pos="56000">
                <a:srgbClr val="045A52">
                  <a:alpha val="60000"/>
                </a:srgbClr>
              </a:gs>
              <a:gs pos="72000">
                <a:srgbClr val="06695E">
                  <a:alpha val="86000"/>
                </a:srgbClr>
              </a:gs>
              <a:gs pos="86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8003282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375" y="8702477"/>
            <a:ext cx="200025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27837" y="9140627"/>
            <a:ext cx="3631327" cy="615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spc="-63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보면 좋을까요?</a:t>
            </a:r>
            <a:endParaRPr lang="en-US" sz="3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3375" y="9756577"/>
            <a:ext cx="2000250" cy="4000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" y="10347127"/>
            <a:ext cx="902589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F7FFFC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치과의사, 치위생사, 치기공사, 학생까지. 디지털 트렌드가 궁금한 사람이라면 누구나</a:t>
            </a:r>
            <a:endParaRPr lang="en-US" sz="2025" dirty="0"/>
          </a:p>
        </p:txBody>
      </p:sp>
      <p:sp>
        <p:nvSpPr>
          <p:cNvPr id="12" name="Text 6"/>
          <p:cNvSpPr/>
          <p:nvPr/>
        </p:nvSpPr>
        <p:spPr>
          <a:xfrm>
            <a:off x="630555" y="11315700"/>
            <a:ext cx="9025890" cy="7810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spc="-19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사전등록 후 참석하면 보수교육 평점까지 스마트 출결앱으로 간편하게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685" b="13063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6000"/>
                </a:srgbClr>
              </a:gs>
              <a:gs pos="16000">
                <a:srgbClr val="003C38">
                  <a:alpha val="6000"/>
                </a:srgbClr>
              </a:gs>
              <a:gs pos="34000">
                <a:srgbClr val="004640">
                  <a:alpha val="32000"/>
                </a:srgbClr>
              </a:gs>
              <a:gs pos="52000">
                <a:srgbClr val="045A52">
                  <a:alpha val="62000"/>
                </a:srgbClr>
              </a:gs>
              <a:gs pos="68000">
                <a:srgbClr val="06695E">
                  <a:alpha val="86000"/>
                </a:srgbClr>
              </a:gs>
              <a:gs pos="82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9145092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375" y="6302375"/>
            <a:ext cx="2000250" cy="400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80611" y="6740525"/>
            <a:ext cx="3125679" cy="5905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60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관람하세요</a:t>
            </a:r>
            <a:endParaRPr lang="en-US" sz="3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3375" y="7331075"/>
            <a:ext cx="2000250" cy="4000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2000" y="7921625"/>
            <a:ext cx="8763000" cy="869950"/>
          </a:xfrm>
          <a:prstGeom prst="roundRect">
            <a:avLst>
              <a:gd name="adj" fmla="val 19708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971550" y="8156575"/>
            <a:ext cx="400050" cy="400050"/>
          </a:xfrm>
          <a:prstGeom prst="ellipse">
            <a:avLst/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sp>
        <p:nvSpPr>
          <p:cNvPr id="13" name="Text 7"/>
          <p:cNvSpPr/>
          <p:nvPr/>
        </p:nvSpPr>
        <p:spPr>
          <a:xfrm>
            <a:off x="933450" y="81565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524000" y="8074025"/>
            <a:ext cx="353615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사전등록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524000" y="8429625"/>
            <a:ext cx="35361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홈페이지에서 미리 등록하면 대기 없이 입장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62000" y="8896350"/>
            <a:ext cx="8763000" cy="869950"/>
          </a:xfrm>
          <a:prstGeom prst="roundRect">
            <a:avLst>
              <a:gd name="adj" fmla="val 19708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71550" y="9131300"/>
            <a:ext cx="400050" cy="400050"/>
          </a:xfrm>
          <a:prstGeom prst="ellipse">
            <a:avLst/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sp>
        <p:nvSpPr>
          <p:cNvPr id="18" name="Text 12"/>
          <p:cNvSpPr/>
          <p:nvPr/>
        </p:nvSpPr>
        <p:spPr>
          <a:xfrm>
            <a:off x="933450" y="913130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24000" y="9048750"/>
            <a:ext cx="190603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스마트 출결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524000" y="9404350"/>
            <a:ext cx="19060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입장 시 앱으로 QR 체크인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762000" y="9871075"/>
            <a:ext cx="8763000" cy="869950"/>
          </a:xfrm>
          <a:prstGeom prst="roundRect">
            <a:avLst>
              <a:gd name="adj" fmla="val 19708"/>
            </a:avLst>
          </a:prstGeom>
          <a:solidFill>
            <a:srgbClr val="F7FFFC">
              <a:alpha val="95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71550" y="10106025"/>
            <a:ext cx="400050" cy="400050"/>
          </a:xfrm>
          <a:prstGeom prst="ellipse">
            <a:avLst/>
          </a:prstGeom>
          <a:gradFill rotWithShape="1">
            <a:gsLst>
              <a:gs pos="0">
                <a:srgbClr val="CFF8EF">
                  <a:alpha val="100000"/>
                </a:srgbClr>
              </a:gs>
              <a:gs pos="100000">
                <a:srgbClr val="8EEBDA">
                  <a:alpha val="100000"/>
                </a:srgbClr>
              </a:gs>
            </a:gsLst>
            <a:lin ang="3300000" scaled="0"/>
          </a:gradFill>
          <a:ln/>
        </p:spPr>
      </p:sp>
      <p:sp>
        <p:nvSpPr>
          <p:cNvPr id="23" name="Text 17"/>
          <p:cNvSpPr/>
          <p:nvPr/>
        </p:nvSpPr>
        <p:spPr>
          <a:xfrm>
            <a:off x="933450" y="1010602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524000" y="10023475"/>
            <a:ext cx="251591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6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관람</a:t>
            </a:r>
            <a:endParaRPr lang="en-US" sz="1950" dirty="0"/>
          </a:p>
        </p:txBody>
      </p:sp>
      <p:sp>
        <p:nvSpPr>
          <p:cNvPr id="25" name="Text 19"/>
          <p:cNvSpPr/>
          <p:nvPr/>
        </p:nvSpPr>
        <p:spPr>
          <a:xfrm>
            <a:off x="1524000" y="10379076"/>
            <a:ext cx="25159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학술강연 · 전시부스 원하는 순서로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62000" y="10845801"/>
            <a:ext cx="8763000" cy="869950"/>
          </a:xfrm>
          <a:prstGeom prst="roundRect">
            <a:avLst>
              <a:gd name="adj" fmla="val 19708"/>
            </a:avLst>
          </a:prstGeom>
          <a:solidFill>
            <a:srgbClr val="0A7C79">
              <a:alpha val="90000"/>
            </a:srgbClr>
          </a:solidFill>
          <a:ln/>
          <a:effectLst>
            <a:outerShdw sx="100000" sy="100000" kx="0" ky="0" algn="bl" rotWithShape="0" blurRad="247650" dist="114300" dir="5400000">
              <a:srgbClr val="000000">
                <a:alpha val="2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1550" y="11080750"/>
            <a:ext cx="400050" cy="40005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BDF6EC">
                <a:alpha val="5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46150" y="11093450"/>
            <a:ext cx="45085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524000" y="10998201"/>
            <a:ext cx="266248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보수교육 평점 자동 반영</a:t>
            </a:r>
            <a:endParaRPr lang="en-US" sz="1950" dirty="0"/>
          </a:p>
        </p:txBody>
      </p:sp>
      <p:sp>
        <p:nvSpPr>
          <p:cNvPr id="30" name="Text 24"/>
          <p:cNvSpPr/>
          <p:nvPr/>
        </p:nvSpPr>
        <p:spPr>
          <a:xfrm>
            <a:off x="1524000" y="11353800"/>
            <a:ext cx="23492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7FFFC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출결 기록 기준으로 자동 집계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323850" y="11887200"/>
            <a:ext cx="9639300" cy="381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spc="-18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절차 없이, 앱 하나로 끝나요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685" b="13063"/>
          <a:stretch/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 rotWithShape="1">
            <a:gsLst>
              <a:gs pos="0">
                <a:srgbClr val="003C38">
                  <a:alpha val="16000"/>
                </a:srgbClr>
              </a:gs>
              <a:gs pos="20000">
                <a:srgbClr val="003C38">
                  <a:alpha val="6000"/>
                </a:srgbClr>
              </a:gs>
              <a:gs pos="42000">
                <a:srgbClr val="004640">
                  <a:alpha val="32000"/>
                </a:srgbClr>
              </a:gs>
              <a:gs pos="60000">
                <a:srgbClr val="045A52">
                  <a:alpha val="64000"/>
                </a:srgbClr>
              </a:gs>
              <a:gs pos="75000">
                <a:srgbClr val="06695E">
                  <a:alpha val="87000"/>
                </a:srgbClr>
              </a:gs>
              <a:gs pos="88000">
                <a:srgbClr val="087364">
                  <a:alpha val="96000"/>
                </a:srgbClr>
              </a:gs>
              <a:gs pos="100000">
                <a:srgbClr val="0B7A6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solidFill>
            <a:srgbClr val="F7FFFC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92075"/>
            <a:ext cx="10287000" cy="66675"/>
          </a:xfrm>
          <a:prstGeom prst="rect">
            <a:avLst/>
          </a:prstGeom>
          <a:gradFill rotWithShape="1">
            <a:gsLst>
              <a:gs pos="0">
                <a:srgbClr val="7DE2D1">
                  <a:alpha val="100000"/>
                </a:srgbClr>
              </a:gs>
              <a:gs pos="100000">
                <a:srgbClr val="BDF6EC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488950"/>
            <a:ext cx="1983413" cy="3175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DENTIROOM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8625" y="7540625"/>
            <a:ext cx="1809750" cy="361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53622" y="7940675"/>
            <a:ext cx="2179757" cy="438150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19050" dir="5400000">
              <a:srgbClr val="000000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spc="-22" kern="0" dirty="0">
                <a:solidFill>
                  <a:srgbClr val="BD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덴티룸 한 줄 정리</a:t>
            </a:r>
            <a:endParaRPr lang="en-US" sz="217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625" y="8378825"/>
            <a:ext cx="1809750" cy="361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" y="8931275"/>
            <a:ext cx="9025890" cy="2589213"/>
          </a:xfrm>
          <a:prstGeom prst="rect">
            <a:avLst/>
          </a:prstGeom>
          <a:noFill/>
          <a:ln/>
          <a:effectLst>
            <a:outerShdw sx="100000" sy="100000" kx="0" ky="0" algn="bl" rotWithShape="0" blurRad="247650" dist="38100" dir="5400000">
              <a:srgbClr val="000000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4050" b="1" spc="-122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KDTEX는 치과기공계의 </a:t>
            </a:r>
            <a:pPr algn="ctr" indent="0" marL="0">
              <a:lnSpc>
                <a:spcPct val="124000"/>
              </a:lnSpc>
              <a:buNone/>
            </a:pPr>
            <a:r>
              <a:rPr lang="en-US" sz="4050" b="1" spc="-122" kern="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pPr algn="ctr" indent="0" marL="0">
              <a:lnSpc>
                <a:spcPct val="124000"/>
              </a:lnSpc>
              <a:buNone/>
            </a:pPr>
            <a:r>
              <a:rPr lang="en-US" sz="4050" b="1" spc="-122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pPr algn="ctr" indent="0" marL="0">
              <a:lnSpc>
                <a:spcPct val="124000"/>
              </a:lnSpc>
              <a:buNone/>
            </a:pPr>
            <a:r>
              <a:rPr lang="en-US" sz="4050" b="1" spc="-122" kern="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</a:t>
            </a:r>
            <a:pPr algn="ctr" indent="0" marL="0">
              <a:lnSpc>
                <a:spcPct val="124000"/>
              </a:lnSpc>
              <a:buNone/>
            </a:pPr>
            <a:r>
              <a:rPr lang="en-US" sz="4050" b="1" spc="-122" kern="0" dirty="0">
                <a:solidFill>
                  <a:srgbClr val="F7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한 번에 보는 자리</a:t>
            </a:r>
            <a:endParaRPr lang="en-US" sz="4050" dirty="0"/>
          </a:p>
        </p:txBody>
      </p:sp>
      <p:sp>
        <p:nvSpPr>
          <p:cNvPr id="12" name="Text 6"/>
          <p:cNvSpPr/>
          <p:nvPr/>
        </p:nvSpPr>
        <p:spPr>
          <a:xfrm>
            <a:off x="323850" y="11672888"/>
            <a:ext cx="9639300" cy="423863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25" b="1" spc="-20" kern="0" dirty="0">
                <a:solidFill>
                  <a:srgbClr val="F7FFFC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치과계 실무 흐름을 쉽게 정리하는 곳, </a:t>
            </a:r>
            <a:pPr algn="ctr" indent="0" marL="0">
              <a:lnSpc>
                <a:spcPct val="150000"/>
              </a:lnSpc>
              <a:buNone/>
            </a:pPr>
            <a:r>
              <a:rPr lang="en-US" sz="2025" b="1" spc="-20" kern="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덴티룸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2026-07-10T07:09:02Z</dcterms:created>
  <dcterms:modified xsi:type="dcterms:W3CDTF">2026-07-10T07:09:02Z</dcterms:modified>
</cp:coreProperties>
</file>