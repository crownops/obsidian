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05856" y="1417320"/>
            <a:ext cx="155448" cy="1554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5998464" y="1417320"/>
            <a:ext cx="155448" cy="155448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4" name="Shape 2"/>
          <p:cNvSpPr/>
          <p:nvPr/>
        </p:nvSpPr>
        <p:spPr>
          <a:xfrm>
            <a:off x="6291072" y="1417320"/>
            <a:ext cx="155448" cy="155448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CROWNOPS  —  치과기공소 제작 전 정보 검증 SaaS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잘못은 치과에서 나오고,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비용은 기공소가 냅니다.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CrownOps는 치과기공소가 제작을 시작하기 전,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정보가 서로 맞는지 확인하는 ‘검사대’입니다.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617220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9B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CrownOps by Paraegis  ·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오프닝 — 이 산업이 어떻게 돌아가는가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치과는 인공 치아를 직접 만들지 않습니다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보철물은 ‘치과기공소’라는 외부 제작소에서 만들어집니다.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치과에서 크라운이나 임플란트 치료를 받을 때, 입안에 들어가는 인공 치아 —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보철물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(크라운, 브릿지 등 환자 맞춤형 인공 치아)은 치과가 직접 만들지 않습니다.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치과는 환자의 치아 모양과 제작 조건을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치과기공소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(치과의 주문을 받아 보철물을 만드는 외부 제작 전문 업체)에 보내고, 기공소가 만들어 다시 치과로 배송합니다.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4,635곳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치과기공소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4709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1.9만곳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5349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주문을 보내는 전국 치과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5239512" cy="3566160"/>
          </a:xfrm>
          <a:prstGeom prst="roundRect">
            <a:avLst>
              <a:gd name="adj" fmla="val 1795"/>
            </a:avLst>
          </a:prstGeom>
          <a:solidFill>
            <a:srgbClr val="F4F7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0" y="251460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514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(주문)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72600" y="251460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2514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치과기공소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(제작)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32520" y="2788920"/>
            <a:ext cx="59436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485632" y="2304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의뢰서 + 스캔 파일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H="1">
            <a:off x="8732520" y="3310128"/>
            <a:ext cx="594360" cy="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485632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보철물 배송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420624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한 명 한 명에게 맞는 맞춤형 주문 제작 —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정보가 정확해야 제작이 정확해집니다.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기공소 수 — 행정안전부 인허가 데이터(2023) · 치과 수 — 건강보험심사평가원 요양기관 현황 기준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오프닝 — 한 문장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CrownOps는 제작 전 주문 정보를 확인하는 ‘검사대’입니다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생산 라인 맨 앞에 검사대를 하나 두는 것과 같습니다.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03120"/>
            <a:ext cx="3017520" cy="3017520"/>
          </a:xfrm>
          <a:prstGeom prst="roundRect">
            <a:avLst>
              <a:gd name="adj" fmla="val 2121"/>
            </a:avLst>
          </a:prstGeom>
          <a:solidFill>
            <a:srgbClr val="F4F7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치과의 주문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의뢰서 (주문서)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파일 (치아 3D 데이터)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· 쉐이드 (색상 코드)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임플란트 부품 정보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49040" y="3611880"/>
            <a:ext cx="64008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26280" y="2103120"/>
            <a:ext cx="3108960" cy="3017520"/>
          </a:xfrm>
          <a:prstGeom prst="roundRect">
            <a:avLst>
              <a:gd name="adj" fmla="val 2121"/>
            </a:avLst>
          </a:prstGeom>
          <a:solidFill>
            <a:srgbClr val="0A3D46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CrownOps 검사대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정보가 서로 맞는지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시작 전에 대조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41848" y="4160520"/>
            <a:ext cx="164592" cy="16459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Shape 14"/>
          <p:cNvSpPr/>
          <p:nvPr/>
        </p:nvSpPr>
        <p:spPr>
          <a:xfrm>
            <a:off x="5971032" y="4160520"/>
            <a:ext cx="164592" cy="16459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0216" y="4160520"/>
            <a:ext cx="164592" cy="16459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526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맞는 것만 제작에 들여보냅니다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0" y="3611880"/>
            <a:ext cx="64008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732520" y="2103120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E8F2F3"/>
          </a:solidFill>
          <a:ln/>
        </p:spPr>
      </p:sp>
      <p:sp>
        <p:nvSpPr>
          <p:cNvPr id="21" name="Shape 19"/>
          <p:cNvSpPr/>
          <p:nvPr/>
        </p:nvSpPr>
        <p:spPr>
          <a:xfrm>
            <a:off x="8961120" y="2432304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0" y="22128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가능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0" y="2542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모두 맞음 → 바로 제작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32520" y="3182112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4F7F8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0" y="3511296"/>
            <a:ext cx="219456" cy="219456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0" y="32918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0" y="36210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애매함 → 사람이 판단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32520" y="4261104"/>
            <a:ext cx="2926080" cy="896112"/>
          </a:xfrm>
          <a:prstGeom prst="roundRect">
            <a:avLst>
              <a:gd name="adj" fmla="val 7143"/>
            </a:avLst>
          </a:prstGeom>
          <a:solidFill>
            <a:srgbClr val="F4F7F8"/>
          </a:solidFill>
          <a:ln/>
        </p:spPr>
      </p:sp>
      <p:sp>
        <p:nvSpPr>
          <p:cNvPr id="29" name="Shape 27"/>
          <p:cNvSpPr/>
          <p:nvPr/>
        </p:nvSpPr>
        <p:spPr>
          <a:xfrm>
            <a:off x="8961120" y="4590288"/>
            <a:ext cx="219456" cy="219456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0" y="43708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치과에 재문의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26880" y="47000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빠짐 → 제작 전에 질문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대상: 의뢰서(치과가 보내는 주문서) · 스캔 파일 · 재료 · 쉐이드(치아 색상 코드) · 임플란트 부품 정보 — 상세는 섹션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문제 — 하나의 이야기 (상황)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정보가 흩어져서 도착합니다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건의 주문 정보가 여러 경로로 쪼개져 들어옵니다.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83080"/>
            <a:ext cx="11094415" cy="685800"/>
          </a:xfrm>
          <a:prstGeom prst="roundRect">
            <a:avLst>
              <a:gd name="adj" fmla="val 9333"/>
            </a:avLst>
          </a:prstGeom>
          <a:solidFill>
            <a:srgbClr val="E8F2F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8308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“옷 수선집에 옷만 보내고, 치수 쪽지는 문자로, 원단 요청은 전화로, 납기는 이메일로 따로 보낸다면?”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3456432" cy="16002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 · PDF · 사진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3401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의뢰서(주문서)가 팩스, 스캔본,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사진으로 도착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70832" y="2743200"/>
            <a:ext cx="3456432" cy="16002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스캐너 프로그램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26864" y="3401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파일(치아 3D 데이터)은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프로그램으로 수신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93024" y="2743200"/>
            <a:ext cx="3456432" cy="16002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/>
        </p:spPr>
      </p:sp>
      <p:sp>
        <p:nvSpPr>
          <p:cNvPr id="17" name="Text 15"/>
          <p:cNvSpPr/>
          <p:nvPr/>
        </p:nvSpPr>
        <p:spPr>
          <a:xfrm>
            <a:off x="8449056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· 전화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49056" y="3401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변경, 급한 요청은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메신저와 전화로 도착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76856" y="4434840"/>
            <a:ext cx="0" cy="411480"/>
          </a:xfrm>
          <a:prstGeom prst="line">
            <a:avLst/>
          </a:prstGeom>
          <a:noFill/>
          <a:ln w="22225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99048" y="4434840"/>
            <a:ext cx="0" cy="411480"/>
          </a:xfrm>
          <a:prstGeom prst="line">
            <a:avLst/>
          </a:prstGeom>
          <a:noFill/>
          <a:ln w="22225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21240" y="4434840"/>
            <a:ext cx="0" cy="411480"/>
          </a:xfrm>
          <a:prstGeom prst="line">
            <a:avLst/>
          </a:prstGeom>
          <a:noFill/>
          <a:ln w="22225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5029200"/>
            <a:ext cx="11094415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E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02920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경로, 서로 다른 시점.  </a:t>
            </a:r>
            <a:pPr indent="0" marL="0">
              <a:buNone/>
            </a:pPr>
            <a:r>
              <a:rPr lang="en-US" sz="140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정보를 사람이 눈으로 맞춰 보는 것이 지금의 확인 방식입니다.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심층 인터뷰 및 현장 방문(2026) · 국내 기공소 90% 이상이 종이 의뢰서 기반(업계 조사) · 구글폼 응답 3건 중 3건(100%) 모두 '치과 재확인 케이스'를 공통 지목(부록 A-9)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문제 — 하나의 이야기 (사고)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틀린 채 제작되면, 완성된 뒤에야 발견됩니다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10건 중 1건이 처음부터 다시 만들어집니다.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031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E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10.1%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치과기공소 월평균 재제작율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깎아 버린 보철물은 고칠 수 없어 처음부터 다시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만듭니다 — 이것이 재제작(리메이크)입니다.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재료비 · 인건비 · 배송비를 두 번 씁니다.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4480560" cy="868680"/>
          </a:xfrm>
          <a:prstGeom prst="roundRect">
            <a:avLst>
              <a:gd name="adj" fmla="val 7368"/>
            </a:avLst>
          </a:prstGeom>
          <a:solidFill>
            <a:srgbClr val="E8F2F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12064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장비가 디지털로 바뀌어도 이 비율은 줄지 않았습니다.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확인하는 방식이 그대로이기 때문입니다.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60720" y="2103120"/>
            <a:ext cx="5897880" cy="3246120"/>
          </a:xfrm>
          <a:prstGeom prst="roundRect">
            <a:avLst>
              <a:gd name="adj" fmla="val 1972"/>
            </a:avLst>
          </a:prstGeom>
          <a:solidFill>
            <a:srgbClr val="F4F7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2651760"/>
            <a:ext cx="8229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2651760"/>
            <a:ext cx="8229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651760"/>
            <a:ext cx="8229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81160" y="2651760"/>
            <a:ext cx="8229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2651760"/>
            <a:ext cx="8229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703320"/>
            <a:ext cx="8229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0" y="3703320"/>
            <a:ext cx="8229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3703320"/>
            <a:ext cx="8229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1160" y="3703320"/>
            <a:ext cx="8229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87000" y="3703320"/>
            <a:ext cx="822960" cy="822960"/>
          </a:xfrm>
          <a:prstGeom prst="roundRect">
            <a:avLst>
              <a:gd name="adj" fmla="val 7778"/>
            </a:avLst>
          </a:prstGeom>
          <a:solidFill>
            <a:srgbClr val="CE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7000" y="3703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재제작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8932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10건 중 1건 — 재료비, 인건비, 배송비의 이중 지출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남신은(2018), 대한치과기공학회지 40(3) — 전국 126곳 조사(회수율 52.2%). CAD/CAM 11.8%로 최고(부록 A-1) · 단, 일 20~30건 처리하며 오류 0건인 기공소도 존재(온라인 커뮤니티) — 표준화된 검증 프로세스가 없는 기공소의 문제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문제 — 하나의 이야기 (부조리)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원인과 비용이 어긋나 있습니다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80.9%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재제작 원인은 치과 측 — 10건 중 8건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FD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치아를 본뜨는 과정과 진료 과정의 오류가 대부분.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FD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기공소 자체 잘못은 13.4%에 그칩니다.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99048" y="1920240"/>
            <a:ext cx="0" cy="1920240"/>
          </a:xfrm>
          <a:prstGeom prst="line">
            <a:avLst/>
          </a:prstGeom>
          <a:noFill/>
          <a:ln w="19050">
            <a:solidFill>
              <a:srgbClr val="1F5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7373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F0A9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67.4%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6611112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비용은 기공소가 전액 부담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11112" y="3246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FD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주문을 주는 치과는 ‘갑’, 받는 기공소는 ‘을’.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FD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따질 근거가 없으면 그냥 다시 만들어 줍니다.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3977640"/>
            <a:ext cx="9262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FD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온라인 커뮤니티에서도 재제작 비용의 절반을 청구하는 기공소가 확인되지만, 청구 시 치과가 책임을 부인하며 분쟁으로 번지는 사례가 함께 보고됩니다 — 객관적 근거가 없기 때문입니다.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0" y="4526280"/>
            <a:ext cx="8531352" cy="960120"/>
          </a:xfrm>
          <a:prstGeom prst="roundRect">
            <a:avLst>
              <a:gd name="adj" fmla="val 7619"/>
            </a:avLst>
          </a:prstGeom>
          <a:solidFill>
            <a:srgbClr val="07303A"/>
          </a:solidFill>
          <a:ln w="12700">
            <a:solidFill>
              <a:srgbClr val="1F5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526280"/>
            <a:ext cx="8531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“잘못은 치과에서 나오고, 비용은 기공소가 낸다.”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63367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9B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남신은(2018), 전국 126곳 — 치과 측 원인 80.9%(인상채득 63.7%+진료과정 17.2%), 기공소 자체 13.4%, 환자변심 3.2% · 비용은 전액부담 67.4%·원인별분담 20.7%·반반 8.1%·치과지불 2.2% — 부록 A-1, A-6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왜 아직 해결되지 않았나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“그럼 왜 아무도 안 만들었나?”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업계가 스스로 해결할 자본이 없고, 기존 소프트웨어는 다른 문제를 풉니다.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20240"/>
            <a:ext cx="3456432" cy="3931920"/>
          </a:xfrm>
          <a:prstGeom prst="roundRect">
            <a:avLst>
              <a:gd name="adj" fmla="val 1852"/>
            </a:avLst>
          </a:prstGeom>
          <a:solidFill>
            <a:srgbClr val="F4F7F8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212848"/>
            <a:ext cx="475488" cy="47548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돈이 못 들어오는 산업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치과기공소는 법적으로 법인 설립이 불가능합니다(의료기사법상 개인 개설만 허용).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법인이 없으니 지분 투자가 구조적으로 막혀 있고, 업계 스스로 문제를 해결할 자본이 쌓이지 않습니다. 그 결과 면허를 딴 기공사의 절반 가까이(약 48.8%)가 업계를 떠납니다.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0832" y="1920240"/>
            <a:ext cx="3456432" cy="3931920"/>
          </a:xfrm>
          <a:prstGeom prst="roundRect">
            <a:avLst>
              <a:gd name="adj" fmla="val 1852"/>
            </a:avLst>
          </a:prstGeom>
          <a:solidFill>
            <a:srgbClr val="F4F7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645152" y="2212848"/>
            <a:ext cx="475488" cy="47548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4645152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45152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소프트웨어는 다른 일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45152" y="35204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기공소가 쓰는 프로그램은 장부·청구 관리용(월 2만원대)이거나 보철물 설계 지원용입니다.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‘제작 전에 주문 정보가 맞는지 확인’해 주는 도구는 없습니다.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93024" y="1920240"/>
            <a:ext cx="3456432" cy="3931920"/>
          </a:xfrm>
          <a:prstGeom prst="roundRect">
            <a:avLst>
              <a:gd name="adj" fmla="val 1852"/>
            </a:avLst>
          </a:prstGeom>
          <a:solidFill>
            <a:srgbClr val="F4F7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467344" y="2212848"/>
            <a:ext cx="475488" cy="47548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846734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67344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대응책은 개인의 습관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467344" y="35204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포스트잇 붙이기, 입력 후 한 번 더 보기, 치과에 전화해서 재확인.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사람의 주의력에 기대는 방식이고, 사람이 바쁘면 무너집니다.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면허등록 43,680명 대비 활동인력 22,346명(보건복지부 2025, 부록 A-10) · 기공소당 거래 치과 수도 4.9개('18)→4.2개('23)로 하락, 수주 경쟁 심화 · 현장 대응 방식은 온라인 커뮤니티에서 반복 확인(부록 A-6) · 저수가 경쟁 구조는 부록 A-7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해결책 — 사용 장면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/ After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주문 정보를 한 화면에 모아, 신호등처럼 3가지로 표시합니다.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2880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4F7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29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— 지금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카카오톡, 이메일, 스캐너 프로그램, 종이 의뢰서를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하나씩 뒤져서 수작업으로 대조합니다.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바쁘면 건너뛰고, 건너뛴 케이스가 재제작이 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9632" y="182880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E8F2F3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029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— CrownOps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3952" y="242316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건의 주문에 딸린 정보 — 의뢰서, 스캔 파일, 재료, 쉐이드,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임플란트 부품 — 를 한 화면에 모아 자동으로 대조하고,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케이스마다 신호등처럼 셋 중 하나를 표시합니다.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94415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14800"/>
            <a:ext cx="201168" cy="20116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3977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가능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46120" y="39776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모두 맞음 — 바로 제작 시작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544568"/>
            <a:ext cx="11094415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681728"/>
            <a:ext cx="201168" cy="201168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45445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46120" y="45445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애매함 — 사람이 한 번 보고 결정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111496"/>
            <a:ext cx="11094415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248656"/>
            <a:ext cx="201168" cy="201168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51114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치과에 재문의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246120" y="51114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빠졌거나 어긋남 — 제작 전에 치과에 확인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주문이 제작에 들어가는 것을 ‘만들기 전에’ 막는 것 — 이것이 검사대의 역할입니다.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스캔바디(임플란트 위치를 스캐너로 읽기 위해 입안에 꽂는 부품) 등 부품 종류 확인 포함 — 부품 식별이 오류를 거르는 실질 관문이라는 현장 인식(부록 A-6)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해결책 — 세 가지 기능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검사대는 세 가지 일을 합니다 — 대조, 소명, 알림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54480"/>
            <a:ext cx="3456432" cy="3017520"/>
          </a:xfrm>
          <a:prstGeom prst="roundRect">
            <a:avLst>
              <a:gd name="adj" fmla="val 2121"/>
            </a:avLst>
          </a:prstGeom>
          <a:solidFill>
            <a:srgbClr val="F4F7F8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1792224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전 매칭 검증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27889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의뢰서 · 스캔 파일 · 재료 · 쉐이드 · 임플란트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부품이 서로 맞는지 대조하고,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가능 / 확인 필요 / 재문의의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3색으로 분류합니다.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70832" y="1554480"/>
            <a:ext cx="3456432" cy="3017520"/>
          </a:xfrm>
          <a:prstGeom prst="roundRect">
            <a:avLst>
              <a:gd name="adj" fmla="val 2121"/>
            </a:avLst>
          </a:prstGeom>
          <a:solidFill>
            <a:srgbClr val="E8F2F3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6864" y="1792224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27064" y="18745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227064" y="1874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실사용자 1순위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26864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리포트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26864" y="27889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 쪽 오류로 재제작이 생겼을 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‘무엇이 언제 어떻게 틀렸는지’를 데이터로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남긴 소명 자료. 관계를 깨지 않고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사실을 보여줄 수 있습니다.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93024" y="1554480"/>
            <a:ext cx="3456432" cy="3017520"/>
          </a:xfrm>
          <a:prstGeom prst="roundRect">
            <a:avLst>
              <a:gd name="adj" fmla="val 2121"/>
            </a:avLst>
          </a:prstGeom>
          <a:solidFill>
            <a:srgbClr val="F4F7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449056" y="1792224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8449056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0049256" y="18745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10049256" y="1874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실사용자 2순위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49056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 수신 · 누락 알림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449056" y="27889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치과가 스캔 파일을 보냈는지 실시간으로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알려줍니다. 지금은 의뢰서가 와야 스캔이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 줄 알고, 매번 치과에 전화로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11094415" cy="594360"/>
          </a:xfrm>
          <a:prstGeom prst="roundRect">
            <a:avLst>
              <a:gd name="adj" fmla="val 10769"/>
            </a:avLst>
          </a:prstGeom>
          <a:solidFill>
            <a:srgbClr val="E8F2F3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7091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실사용자 원문(구글폼, 2026.06.11): </a:t>
            </a:r>
            <a:pPr indent="0" marL="0">
              <a:buNone/>
            </a:pPr>
            <a:r>
              <a:rPr lang="en-US" sz="1000" i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“의뢰서-STL 매칭 확인, 재료·쉐이드 누락 표시, 치과 확인 필요 케이스 분리, CAM 투입 가능 상태 구분” — 김세준 소장(샤이닝 기공소)이 관심 기능란에 적은 내용이 위 세 기능과 그대로 겹칩니다.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094415" cy="502920"/>
          </a:xfrm>
          <a:prstGeom prst="roundRect">
            <a:avLst>
              <a:gd name="adj" fmla="val 12727"/>
            </a:avLst>
          </a:prstGeom>
          <a:solidFill>
            <a:srgbClr val="0A3D4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4406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프로그램을 대체하지 않습니다 — 그 앞단에 ‘검사대’ 하나를 추가하는 것입니다.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우선순위: 심층 인터뷰 실사용자 즉답 기준 · 설계 편차 20% 초과 시 경고 기능은 자발적 요청 — 부록 A-5 · 구글폼 응답 원문은 부록 A-9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시장 — 계산 과정을 보여주며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시장의 크기: 밖에서 안으로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팔 수 있는 시장은 한국, 연 약 47억 원 규모(추정)입니다.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8" name="Shape 6"/>
          <p:cNvSpPr/>
          <p:nvPr/>
        </p:nvSpPr>
        <p:spPr>
          <a:xfrm>
            <a:off x="1158088" y="1828800"/>
            <a:ext cx="9875520" cy="1143000"/>
          </a:xfrm>
          <a:prstGeom prst="roundRect">
            <a:avLst>
              <a:gd name="adj" fmla="val 5600"/>
            </a:avLst>
          </a:prstGeom>
          <a:solidFill>
            <a:srgbClr val="F4F7F8"/>
          </a:solidFill>
          <a:ln/>
        </p:spPr>
      </p:sp>
      <p:sp>
        <p:nvSpPr>
          <p:cNvPr id="9" name="Text 7"/>
          <p:cNvSpPr/>
          <p:nvPr/>
        </p:nvSpPr>
        <p:spPr>
          <a:xfrm>
            <a:off x="1478128" y="1975104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 — 전체 시장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78128" y="230428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구조가 같은 5개국(한국·일본·독일·영국·대만) 기공소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18808" y="21031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34,970곳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78128" y="2679192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미검증 → 개소 수만 제시, 매출로 환산하지 않음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55368" y="3200400"/>
            <a:ext cx="7680960" cy="1143000"/>
          </a:xfrm>
          <a:prstGeom prst="roundRect">
            <a:avLst>
              <a:gd name="adj" fmla="val 5600"/>
            </a:avLst>
          </a:prstGeom>
          <a:solidFill>
            <a:srgbClr val="E8F2F3"/>
          </a:solidFill>
          <a:ln/>
        </p:spPr>
      </p:sp>
      <p:sp>
        <p:nvSpPr>
          <p:cNvPr id="14" name="Text 12"/>
          <p:cNvSpPr/>
          <p:nvPr/>
        </p:nvSpPr>
        <p:spPr>
          <a:xfrm>
            <a:off x="2575408" y="334670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 — 지금 팔 수 있는 시장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75408" y="36758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치과기공소 전체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21528" y="34747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4,635곳 ≈ 연 47억 원 (추정)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575408" y="405079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전환 여부로 나눠 가중평균 — 계산은 하단 각주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98368" y="4572000"/>
            <a:ext cx="53949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718408" y="47183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SOM — 3년 목표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18408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장에서 계속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 계산: 디지털 기공소 1,800곳 × 연 224만원 + 나머지 2,835곳 × 연 24만원 ≈ 47.1억 원(부록 A-3) · 국가별 개소 수 출처는 부록 A-2(대만은 추정치) · 일본은 개소당 평균 1.15명으로 파편화 — TAM 포함, 초기 목표 시장 제외 · SOM 필터링(5인 이상·디지털워크플로우) 산출 로직은 부록 A-10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시장 — 목표와 돈의 출처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안에 110곳 — 돈은 ‘재제작으로 버리는 돈’에서 나옵니다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5257800" cy="4069080"/>
          </a:xfrm>
          <a:prstGeom prst="roundRect">
            <a:avLst>
              <a:gd name="adj" fmla="val 1573"/>
            </a:avLst>
          </a:prstGeom>
          <a:solidFill>
            <a:srgbClr val="F4F7F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목표 (SOM)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110곳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5인 이상 디지털 기공소 약 1,800곳 중 110곳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(침투율 6.1%)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2976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요금제에 따라 연 매출 약 1.3억 ~ 6.6억 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월 10만원 → 효과 검증 후 월 30~50만원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(인터뷰 실측 지불의향 구간)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16752" y="1783080"/>
            <a:ext cx="5623560" cy="4069080"/>
          </a:xfrm>
          <a:prstGeom prst="roundRect">
            <a:avLst>
              <a:gd name="adj" fmla="val 1573"/>
            </a:avLst>
          </a:prstGeom>
          <a:solidFill>
            <a:srgbClr val="E8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6336792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돈의 출처가 핵심입니다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36792" y="24688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기공소의 소프트웨어 예산은 월 2만원대에 머물러 있습니다.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CrownOps가 겨누는 것은 그 예산이 아니라,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재제작으로 버려지는 돈입니다.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36792" y="3611880"/>
            <a:ext cx="49834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38404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E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80만 원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611112" y="45720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기공소가 타 기공소 재제작 비용으로만 지출한 실측 사례.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약 1,000만 원 — CrownOps 연 구독료(120만~600만 원)를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넘는 손실이 이미 나가고 있습니다.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80만원 사례: 온라인 커뮤니티 반응 수집(부록 A-6) · 1,800곳 산출: 활동기공사 22,346명÷기공소4,635곳=평균4.8명, 5인이상 세그먼트 약 35~40% 추정(부록 A-10) · 재제작 1건당 손실 구성은 부록 A-7 · 가격은 인터뷰 실측 지불의향 기준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경쟁 — 한 장의 지도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‘제작 전 × 도구’ 자리가 비어 있습니다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다들 제작 후를 검증하거나, 제작을 대신해 줍니다.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3680460"/>
            <a:ext cx="9811512" cy="0"/>
          </a:xfrm>
          <a:prstGeom prst="line">
            <a:avLst/>
          </a:prstGeom>
          <a:noFill/>
          <a:ln w="19050">
            <a:solidFill>
              <a:srgbClr val="D8E0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76" y="1783080"/>
            <a:ext cx="0" cy="3794760"/>
          </a:xfrm>
          <a:prstGeom prst="line">
            <a:avLst/>
          </a:prstGeom>
          <a:noFill/>
          <a:ln w="19050">
            <a:solidFill>
              <a:srgbClr val="D8E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97196" y="1490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(소프트웨어)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60036" y="5623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대행 (만들어 줌)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3147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222992" y="33147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4572000"/>
            <a:ext cx="182880" cy="182880"/>
          </a:xfrm>
          <a:prstGeom prst="ellipse">
            <a:avLst/>
          </a:prstGeom>
          <a:solidFill>
            <a:srgbClr val="5C6B73"/>
          </a:solidFill>
          <a:ln/>
        </p:spPr>
      </p:sp>
      <p:sp>
        <p:nvSpPr>
          <p:cNvPr id="15" name="Text 13"/>
          <p:cNvSpPr/>
          <p:nvPr/>
        </p:nvSpPr>
        <p:spPr>
          <a:xfrm>
            <a:off x="3319272" y="44074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덴트링크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주문 플랫폼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95360" y="4709160"/>
            <a:ext cx="182880" cy="182880"/>
          </a:xfrm>
          <a:prstGeom prst="ellipse">
            <a:avLst/>
          </a:prstGeom>
          <a:solidFill>
            <a:srgbClr val="5C6B73"/>
          </a:solidFill>
          <a:ln/>
        </p:spPr>
      </p:sp>
      <p:sp>
        <p:nvSpPr>
          <p:cNvPr id="17" name="Text 15"/>
          <p:cNvSpPr/>
          <p:nvPr/>
        </p:nvSpPr>
        <p:spPr>
          <a:xfrm>
            <a:off x="8851392" y="4544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큐라움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대행 + 품질관리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2148840"/>
            <a:ext cx="182880" cy="182880"/>
          </a:xfrm>
          <a:prstGeom prst="ellipse">
            <a:avLst/>
          </a:prstGeom>
          <a:solidFill>
            <a:srgbClr val="5C6B73"/>
          </a:solidFill>
          <a:ln/>
        </p:spPr>
      </p:sp>
      <p:sp>
        <p:nvSpPr>
          <p:cNvPr id="19" name="Text 17"/>
          <p:cNvSpPr/>
          <p:nvPr/>
        </p:nvSpPr>
        <p:spPr>
          <a:xfrm>
            <a:off x="7571232" y="19842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리얼티쓰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후 형상 검증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18320" y="2651760"/>
            <a:ext cx="182880" cy="182880"/>
          </a:xfrm>
          <a:prstGeom prst="ellipse">
            <a:avLst/>
          </a:prstGeom>
          <a:solidFill>
            <a:srgbClr val="5C6B73"/>
          </a:solidFill>
          <a:ln/>
        </p:spPr>
      </p:sp>
      <p:sp>
        <p:nvSpPr>
          <p:cNvPr id="21" name="Text 19"/>
          <p:cNvSpPr/>
          <p:nvPr/>
        </p:nvSpPr>
        <p:spPr>
          <a:xfrm>
            <a:off x="9674352" y="24871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이마고웍스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설계 지원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3063240"/>
            <a:ext cx="182880" cy="182880"/>
          </a:xfrm>
          <a:prstGeom prst="ellipse">
            <a:avLst/>
          </a:prstGeom>
          <a:solidFill>
            <a:srgbClr val="5C6B73"/>
          </a:solidFill>
          <a:ln/>
        </p:spPr>
      </p:sp>
      <p:sp>
        <p:nvSpPr>
          <p:cNvPr id="23" name="Text 21"/>
          <p:cNvSpPr/>
          <p:nvPr/>
        </p:nvSpPr>
        <p:spPr>
          <a:xfrm>
            <a:off x="8394192" y="28986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메디트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장비 · 파이프라인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063240"/>
            <a:ext cx="182880" cy="182880"/>
          </a:xfrm>
          <a:prstGeom prst="ellipse">
            <a:avLst/>
          </a:prstGeom>
          <a:solidFill>
            <a:srgbClr val="5C6B73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28986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덴티큐브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의뢰서 디지털화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00200" y="2057400"/>
            <a:ext cx="2880360" cy="868680"/>
          </a:xfrm>
          <a:prstGeom prst="roundRect">
            <a:avLst>
              <a:gd name="adj" fmla="val 8421"/>
            </a:avLst>
          </a:prstGeom>
          <a:solidFill>
            <a:srgbClr val="0E7C86"/>
          </a:solidFill>
          <a:ln/>
          <a:effectLst>
            <a:outerShdw sx="100000" sy="100000" kx="0" ky="0" algn="bl" rotWithShape="0" blurRad="76200" dist="25400" dir="5400000">
              <a:srgbClr val="0A3D46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783080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CrownOps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있는 자리 — 제작 전 × 도구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자리는 ‘못 채우는’ 자리가 아니라 ‘아직 안 채운’ 자리 — </a:t>
            </a:r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전략은 기능 우위가 아니라 선점 속도입니다.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업체별 상세 비교·수익화 벤치마크는 부록 A-5 · 경쟁사 자본 유입 가속 중(큐라움·덴트링크 자본 시계열) · 독일·영국은 이미 PE 주도 기공소 롤업 진행 중 — 부록 A-10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검증 현황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완료한 것과 진행 중인 것을 구분해서 말씀드립니다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문제와 기능 우선순위는 검증 완료, 시장 반응은 수집 진행 중입니다.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28800"/>
            <a:ext cx="5440680" cy="3977640"/>
          </a:xfrm>
          <a:prstGeom prst="roundRect">
            <a:avLst>
              <a:gd name="adj" fmla="val 1609"/>
            </a:avLst>
          </a:prstGeom>
          <a:solidFill>
            <a:srgbClr val="F4F7F8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10312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심층 인터뷰 10건 + 구글폼 조사 3건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기공소 3 · 치과 2 · 교수 2 · 업체 2 · 통화 1 · 구글폼 3(2026.06)
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실사용자가 기능 우선순위를 직접 지목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리포트 1순위 · 누락 알림 2순위 · 설계 편차 경고는 자발 제안
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학술 근거 확보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126곳 재제작율·원인 구조 학회지 논문(남신은 2018)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가능 수준 검토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1828800"/>
            <a:ext cx="544068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5875">
            <a:solidFill>
              <a:srgbClr val="DE9B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21031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DE9B26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2103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18120" y="2130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부풀리지 않고, 진행 중은 진행 중으로 씁니다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73952" y="2651760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커뮤니티 게시글 2건 — 조회 919·497회, 댓글 11·13건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반응에서 3가지 패턴 확인: ① 재제작 비용 부담 방식의
표준 부재 ② 정보 오류·스캔 미전송은 전국 공통 경험
③ 대응책은 개인 습관에 의존
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crownops.net 랜딩페이지 운영 · KDTEX 2026 리서치 완료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85개 부스 현장 분석
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교육 파일럿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 연결 대기 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데이터는 익명·패턴 수준으로만 인용(닉네임·원문·스크린샷 미첨부) — 패턴 상세는 부록 A-6 · 구글폼 응답 원문은 부록 A-9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로드맵 — 3단계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쌓일수록 진입장벽이 되는 순서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→ 레퍼런스 → 규칙 데이터 축적. 넓히지 않고 깊어집니다.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Shape 4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28800"/>
            <a:ext cx="3456432" cy="3520440"/>
          </a:xfrm>
          <a:prstGeom prst="roundRect">
            <a:avLst>
              <a:gd name="adj" fmla="val 1852"/>
            </a:avLst>
          </a:prstGeom>
          <a:solidFill>
            <a:srgbClr val="F4F7F8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084832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0848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0~6개월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2606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손실을 숫자로 잰다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30632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신구대학교 실습실 파일럿에서 재제작·손실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규모를 실측합니다.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설계 시 주문 정보를 의도적으로 여러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채널(카카오톡·이메일·손글씨)에 분산시켜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기공소 환경을 재현합니다.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41648" y="3566160"/>
            <a:ext cx="292608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70832" y="1828800"/>
            <a:ext cx="3456432" cy="3520440"/>
          </a:xfrm>
          <a:prstGeom prst="roundRect">
            <a:avLst>
              <a:gd name="adj" fmla="val 1852"/>
            </a:avLst>
          </a:prstGeom>
          <a:solidFill>
            <a:srgbClr val="F4F7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626864" y="2084832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20848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6~18개월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26864" y="2606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레퍼런스를 만든다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26864" y="30632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기공소 3곳을 확보합니다.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보수적인 이 업계에서 확산의 선행 조건은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“검증된 곳이 써 보니 좋다더라”이기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때문입니다.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3840" y="3566160"/>
            <a:ext cx="292608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93024" y="1828800"/>
            <a:ext cx="3456432" cy="3520440"/>
          </a:xfrm>
          <a:prstGeom prst="roundRect">
            <a:avLst>
              <a:gd name="adj" fmla="val 1852"/>
            </a:avLst>
          </a:prstGeom>
          <a:solidFill>
            <a:srgbClr val="E8F2F3"/>
          </a:solidFill>
          <a:ln/>
        </p:spPr>
      </p:sp>
      <p:sp>
        <p:nvSpPr>
          <p:cNvPr id="21" name="Shape 19"/>
          <p:cNvSpPr/>
          <p:nvPr/>
        </p:nvSpPr>
        <p:spPr>
          <a:xfrm>
            <a:off x="8449056" y="2084832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8449056" y="20848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· 18~36개월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49056" y="2606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해자가 된다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49056" y="30632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110곳으로 확대하면서 임플란트 부품·재료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호환성 검증 규칙을 축적합니다.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데이터는 케이스가 쌓일수록 정확해져,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후발주자가 따라오기 어려운 진입장벽이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0A3D4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원칙: 다른 의료 분야로 넓히지 않습니다. 치과 영역 안에서 깊어집니다.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110곳 = 목표 시장(직원 5인 이상 디지털 기공소 1,800곳) 대비 침투율 6.1% — 매출 환산은 부록 A-4 · 검증 안 된 확장 아이디어(블록·쉐이드별 가공 통계, 구글폼 제안)는 3단계 이후 검토 대상 — 부록 A-9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15584" y="123444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123444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4" name="Shape 2"/>
          <p:cNvSpPr/>
          <p:nvPr/>
        </p:nvSpPr>
        <p:spPr>
          <a:xfrm>
            <a:off x="6254496" y="123444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0543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“잘못은 치과에서 나오고, 비용은 기공소가 낸다.</a:t>
            </a:r>
            <a:endParaRPr lang="en-US" sz="2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CrownOps는 이 억울함을 데이터로 끝냅니다.”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10건 중 1건이 다시 만들어지는 산업에서,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CrownOps는 제작 라인 맨 앞에 검사대를 세웁니다.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452628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07303A"/>
          </a:solidFill>
          <a:ln w="12700">
            <a:solidFill>
              <a:srgbClr val="1F5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46817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지원사업 심사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645920" y="501091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FD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사업의 선정을 요청드립니다.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FD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내 파일럿 실측 데이터로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FD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보고하겠습니다.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452628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07303A"/>
          </a:solidFill>
          <a:ln w="12700">
            <a:solidFill>
              <a:srgbClr val="1F5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46817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기공소 대상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92040" y="501091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FD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파일럿에 참여할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FD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기공소 3곳의 소개를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FD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부탁드립니다.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09560" y="452628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07303A"/>
          </a:solidFill>
          <a:ln w="12700">
            <a:solidFill>
              <a:srgbClr val="1F5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46817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D1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투자자 대상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38160" y="501091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FD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(팀 구성 확정 후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FD9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금액·용처 기재)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9B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요청사항은 발표 채널에 따라 하나만 남기고 교체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688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24688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" y="24688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수치 · 비교표    A-1 재제작 통계  ·  A-2 TAM  ·  A-3 SAM  ·  A-4 SOM  ·  A-5 경쟁사  ·  A-6 커뮤니티 패턴  ·  A-7 손실 구조  ·  A-8 용어집  ·  A-9 구글폼 응답  ·  A-10 산업 구조 지표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A-1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재제작(리메이크) 통계 상세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남신은(2018), 대한치과기공학회지 40(3) — 전국 무작위 500곳 발송 → 126곳 최종 분석(회수율 52.2%)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응답빈도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재제작율(평균±SD)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CAD/CAM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33건(11.7%)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E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11.8%±16.2 — 최고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78건(27.7%)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11.5%±15.1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임플란트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60건(21.3%)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11.0%±15.8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크라운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60건(21.3%)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9.0%±12.9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44건(15.6%)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8.7%±9.5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7건(2.5%)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5.3%±3.6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282건(100%)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10.1%±13.2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재제작 원인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치과 인상채득 오류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E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63.7%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치과 진료과정 오류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17.2%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기공소 자체 오류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13.4%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 단순변심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703320"/>
          <a:ext cx="53949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부담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기공소 전액 부담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E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67.4%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원인에 따라 분담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20.7%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50:50 분담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치과 전액 지불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48640" y="4343400"/>
            <a:ext cx="5486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전환(CAD/CAM)이 오류를 줄이지 못함 — 장비가 아니라 검증 프로세스의 문제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경력·소득·근무시간·거래처 수와 재제작율은 무관(p&gt;.05 전 항목) — “개인 책임감” 반론 기각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20~30건 처리하며 오류 0건인 기공소도 존재 — ‘표준화된 검증 프로세스가 없는 기공소’의 문제(과잉일반화 방지)</a:t>
            </a:r>
            <a:endParaRPr lang="en-US" sz="9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부담의 20.7%는 이미 “원인에 따라 분담” — 원인을 증명하는 수단만 있으면 확산 여지가 있다는 근거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A-2 / A-3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 — 5개국 기공소 수  ·  SAM — 매출 환산 시나리오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577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개소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· 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4,635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행정안전부 인허가 데이터(2023)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20,841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후생노동성 위생행정보고례(2022) — 개소당 평균 1.15명으로 파편화, TAM 포함·초기 목표 제외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독일+영국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8,244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ZDH·DLA/GDC 기반 추정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1,250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위생복지부 연구보고서 — 추정치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34,970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개소 수만 제시, 매출 환산 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983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버전의 “TAM 84억 원(ARPU 가정)” 계산은 폐기 — 국가별 요금 미검증 상태의 환산은 부정확</a:t>
            </a:r>
            <a:endParaRPr lang="en-US" sz="95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737360"/>
          <a:ext cx="51937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117043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 매출 환산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 구독료 관행 (보수)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4,635곳 × 연 24만원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11.1억원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 CAD 연간 라이선스 수준 (공격)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× 연 224만원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103.8억원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C. 가중평균 (기본 채택)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디지털 1,800곳 × 연 224만원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기타 2,835곳 × 연 24만원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47.1억원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46520" y="4434840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“직원 5인 이상 = 디지털 전환 기공소” 대리지표(proxy)는 미검증 — 신구대학교 파일럿에서 실측 예정. 본문에 추정임을 명시.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A-4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SOM — 목표 시장과 3년 목표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55448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 매출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잠재 (전체 전환 가정)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1,800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10만원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21.6억원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잠재 (전체 전환 가정)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1,800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30~50만원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64.8~108억원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3년 목표 (침투율 6.1%)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10만원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1.3억원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3년 목표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30~50만원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4.0~6.6억원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737360"/>
            <a:ext cx="4005072" cy="3657600"/>
          </a:xfrm>
          <a:prstGeom prst="roundRect">
            <a:avLst>
              <a:gd name="adj" fmla="val 1750"/>
            </a:avLst>
          </a:prstGeom>
          <a:solidFill>
            <a:srgbClr val="F4F7F8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09560" y="237744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논리: 진입 월 10만원 → 손실 절감 효과 검증 후 월 30~50만원(인터뷰 실측 지불의향 구간)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성장 배경: 국내 보철물 제조 시장 7,724억원('21) → 1조 953억원('27E), CAGR 6% (iDATA Research)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이는 제조 전체 시장 수치 — SOM(소프트웨어 매출)과 구분해 표기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A-5 (1/2)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상세 비교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480560"/>
                <a:gridCol w="52395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CrownOps와의 관계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덴티큐브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종이 의뢰서를 디지털 데이터로 변환 (전 단계)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협력/확장 후보 — 우리 검증의 입력을 만들어 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덴트링크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해외 치과-기공소 주문 플랫폼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문제의식 유사하나 ‘제작 전 검증’은 미커버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리얼티쓰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설계가 끝난 뒤의 형상(모양) 검증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시점이 다름 — 사후 검증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큐라움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제조 대행 + 품질관리 + 브랜드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카테고리 상이(만들어 주는 회사), 자본력은 위협 요인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메디트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구강 스캐너 · 스캔 데이터 파이프라인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번들화 시 최단 진입 가능 — 양면적(제휴/위협)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이마고웍스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기반 보철 설계 지원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‘설계 후 사람이 확인하는 지점’에서 경계 맞닿음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핵심가치 기준 분류: '제작 착수 전 주문 정보 자체의 검증'을 다루는 업체는 CrownOps가 유일 — 나머지는 디지털화·소통·경영관리·설계 사후검수에 집중 (CrownOps 시장분석 보고서, 2026.07)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A-5 (2/2)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수익화 난이도 벤치마크 (2022년 기준)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1554480"/>
                <a:gridCol w="55138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영업이익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메디트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2,715억원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1,426억원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M&amp;A 밸류 24,250억원 — 유일한 흑자, 본업은 스캐너 하드웨어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레이(상장)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1,290억원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162억원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치과용 X-ray·디지털 진단 솔루션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큐라움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99.2억원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E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-14억원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 투자 140억원('24.01)→350억원('26.07) — 제조 대행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아이오바이오(상장)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11.9억원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E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-19.2억원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구강용 카메라 제조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이마고웍스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15.1억원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E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-18.7억원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설계 모델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티에네스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11.2억원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E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-12.1억원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투명교정장치 제조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이노바이드(덴트링크)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355만원('22)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E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-3.2억원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Pre-A 비공개('24.01)→누적 170억원+('26.07 SBVA 리드)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9834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시사점: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메디트를 제외하면 전부 영업적자 — 제조·AI 모델은 자본 소모가 크다. 경량 검증 SaaS는 비용 구조가 다르며, 화이트스페이스 선점에 필요한 것은 자본이 아니라 속도. 이노바이드는 2022년 매출이 사실상 0(355만원)이었으나 2026년 누적 170억원 이상 유치 — 경쟁 속도가 빨라지고 있다는 직접적 증거.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자료: 큐라움 비상장솔루션 리포트(삼성증권 비상장솔루션팀, 2024.01.26), CrownOps 시장분석 보고서(2026.07) · 자본 유입 시계열 상세는 부록 A-10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A-6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반응 수집 — 확인된 패턴 (익명 · 패턴 수준)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방식: 치과기공사 온라인 커뮤니티(DentalSynk, 게시판·오픈채팅방)에 문제 상황 게시 후 반응 수집. 닉네임·원문·스크린샷 미인용, 패턴과 집계 지표만 정리.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1207008"/>
          <a:ext cx="33649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96696"/>
                <a:gridCol w="996696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게시일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댓글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2026.07.09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2026.07.13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1965960"/>
            <a:ext cx="3456432" cy="3383280"/>
          </a:xfrm>
          <a:prstGeom prst="roundRect">
            <a:avLst>
              <a:gd name="adj" fmla="val 1892"/>
            </a:avLst>
          </a:prstGeom>
          <a:solidFill>
            <a:srgbClr val="F4F7F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148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1 — 비용 부담의 표준 부재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274320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전액 기공소 부담이 다수 관행(환자 과실·치과 변심에 의한 재제작까지 무상 처리 사례 포함)</a:t>
            </a:r>
            <a:endParaRPr lang="en-US" sz="9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기공소 재제작 비용으로만 월 80만원 지출 사례</a:t>
            </a:r>
            <a:endParaRPr lang="en-US" sz="9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 청구 기공소도 존재하나, 청구 시 거래처가 책임을 부인하며 반송하는 분쟁 발생</a:t>
            </a:r>
            <a:endParaRPr lang="en-US" sz="93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93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객관적 기준·증빙 부재 = 검증 리포트가 겨누는 공백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4370832" y="1965960"/>
            <a:ext cx="3456432" cy="3383280"/>
          </a:xfrm>
          <a:prstGeom prst="roundRect">
            <a:avLst>
              <a:gd name="adj" fmla="val 1892"/>
            </a:avLst>
          </a:prstGeom>
          <a:solidFill>
            <a:srgbClr val="F4F7F8"/>
          </a:solidFill>
          <a:ln/>
        </p:spPr>
      </p:sp>
      <p:sp>
        <p:nvSpPr>
          <p:cNvPr id="13" name="Text 10"/>
          <p:cNvSpPr/>
          <p:nvPr/>
        </p:nvSpPr>
        <p:spPr>
          <a:xfrm>
            <a:off x="4599432" y="2148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2 — 정보 오류·미전송은 전국 공통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99432" y="274320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 위생사가 환자 응대 중 스캔 데이터 전송을 누락하는 유형 빈발</a:t>
            </a:r>
            <a:endParaRPr lang="en-US" sz="9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기공소는 월 1~2회 의뢰 누락 경험, 진행 관리는 수기 일지와 전화 재확인이 전부</a:t>
            </a:r>
            <a:endParaRPr lang="en-US" sz="9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임플란트 일부만 먼저 진행 시 기존 것까지 묶여 다시 만드는 ‘연쇄 재제작’ 손실</a:t>
            </a:r>
            <a:endParaRPr lang="en-US" sz="93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93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누락 알림 기능의 근거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8193024" y="1965960"/>
            <a:ext cx="3456432" cy="3383280"/>
          </a:xfrm>
          <a:prstGeom prst="roundRect">
            <a:avLst>
              <a:gd name="adj" fmla="val 1892"/>
            </a:avLst>
          </a:prstGeom>
          <a:solidFill>
            <a:srgbClr val="F4F7F8"/>
          </a:solidFill>
          <a:ln/>
        </p:spPr>
      </p:sp>
      <p:sp>
        <p:nvSpPr>
          <p:cNvPr id="16" name="Text 13"/>
          <p:cNvSpPr/>
          <p:nvPr/>
        </p:nvSpPr>
        <p:spPr>
          <a:xfrm>
            <a:off x="8421624" y="2148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3 — 대응책은 개인 습관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21624" y="274320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신입·저연차의 입력 실수(쉐이드 혼동, 임플란트 부품 오확인)가 반복 주제 — “한 달에 두세 번은 꼭 하나씩 새더라고요”</a:t>
            </a:r>
            <a:endParaRPr lang="en-US" sz="9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공유되는 대응책은 포스트잇, 입력 전 재확인 등 개인 습관 차원</a:t>
            </a:r>
            <a:endParaRPr lang="en-US" sz="9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3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20~30건 처리하며 오류 0건이라는 댓글도 존재 — 확인 습관 정착 여부가 핵심 변수</a:t>
            </a:r>
            <a:endParaRPr lang="en-US" sz="93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93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시스템적 검증 장치의 부재를 현장 스스로 인식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반례(정직하게 기재): </a:t>
            </a:r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20~30케이스를 처리하며 오류가 거의 없다고 밝힌 기공소도 존재 — ‘모든 기공소’가 아니라 ‘표준화된 검증 프로세스가 없는 기공소’의 문제로 서술한다.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A-7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구조와 지불 재원 논리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7F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562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재제작 1건당 손실 구성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221992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재료비 8~10만원 + 인건비 + 전기료 + 배송비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전액 이중 지출.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저수가 배경: 최저 크라운 수가 2.54만원 사례.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저수가 경쟁 속에서 재제작 손실이 영업이익을 직접 잠식.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7F8"/>
          </a:solidFill>
          <a:ln/>
        </p:spPr>
      </p:sp>
      <p:sp>
        <p:nvSpPr>
          <p:cNvPr id="11" name="Text 9"/>
          <p:cNvSpPr/>
          <p:nvPr/>
        </p:nvSpPr>
        <p:spPr>
          <a:xfrm>
            <a:off x="6455664" y="18562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손실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55664" y="2221992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 오류 1건에 치과 거래처 3곳이 동시 이탈한 사례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(현장 인터뷰).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재제작 + 개선 없는 피드백은 거래처 교체 사유.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7F8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096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리포트의 포지셔닝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4672" y="4462272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비용을 청구하려다 분쟁이 나고 결국 무상으로 다시 해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주는 관행 확인 → 리포트는 ‘비용 회수 무기’가 아니라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관계를 유지하면서 소명하는 수단.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‘작업자 추적/감시’ 프레이밍은 사용 금지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(실사용자 명시적 거부 지점).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99632" y="3931920"/>
            <a:ext cx="5440680" cy="2057400"/>
          </a:xfrm>
          <a:prstGeom prst="roundRect">
            <a:avLst>
              <a:gd name="adj" fmla="val 3111"/>
            </a:avLst>
          </a:prstGeom>
          <a:solidFill>
            <a:srgbClr val="F4F7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4096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지불 재원과 과금 대상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55664" y="4462272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지출 관행(전국 연 11~47억원)이 아니라 재제작으로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버려지는 손실 예산에서 가져옴 — 월 80만원 손실 사례가 실증.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과금 대상이 기공소인 이유: ① 치과의 직접 지불의향 약함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치과 과금 시 기공료 인상 우려의 반작용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주문 알선을 통한 수익화는 법적으로 금지.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A-8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용어집 — 심사역 · 투자자용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보철물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크라운·브릿지 등 환자 맞춤형 인공 치아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치과기공소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치과의 주문을 받아 보철물을 만드는 외부 제작 전문 업체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의뢰서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치과가 기공소에 보내는 주문서(치아 위치, 보철 종류, 색상 등)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 파일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 치아를 3D로 본뜬 디지털 파일(STL 형식)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쉐이드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환자의 치아 색과 맞추기 위한 색상 코드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스캔바디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임플란트의 위치·각도를 스캐너로 읽기 위해 입안에 꽂는 부품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737360"/>
          <a:ext cx="54406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어버트먼트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임플란트 뿌리와 보철물을 연결하는 중간 기둥 부품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인상채득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환자 치아 모양을 본뜨는 과정(재제작 원인 1위 지점)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재제작(리메이크)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완성된 보철물을 폐기하고 처음부터 다시 만드는 것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CAD/CAM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컴퓨터로 설계(CAD)하고 기계로 깎는(CAM) 디지털 제작 방식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재료 블록을 기계로 깎아 보철물을 만드는 공정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A-9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구글폼 응답 원문 (n=3, 2026.06.11)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김세준 소장·최혜린 치과기공사는 기존 최종발표덱 「현장 검증」 표에 이미 실명 등재된 인터뷰이와 동일 인물 — 실명 인용 가능. 표본 n=3, 통계 아닌 인터뷰 인용으로만 사용.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4415" cy="1280160"/>
          </a:xfrm>
          <a:prstGeom prst="roundRect">
            <a:avLst>
              <a:gd name="adj" fmla="val 5000"/>
            </a:avLst>
          </a:prstGeom>
          <a:solidFill>
            <a:srgbClr val="E8F2F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2996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김세준 소장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샤이닝 기공소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0" y="2029968"/>
            <a:ext cx="8122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의뢰서-STL 매칭 확인, 재료·쉐이드 누락 표시, 치과 확인 필요 케이스 분리, CAM 투입 가능 상태 구분 — CrownOps 3개 기능을 그대로 나열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1094415" cy="1280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4728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박찬호 디자인기사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91840" y="3447288"/>
            <a:ext cx="8122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기능 “아직 잘 모르겠음”, 신제품 안내 “아직은 관심 없습니다” — 3명 중 1명은 무관심한 저관여 반례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94415" cy="1280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86460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최혜린 치과기공사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윤영기공소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4864608"/>
            <a:ext cx="8122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기능은 “재료·쉐이드 정보 누락 표시”. 추가로 “캠 가공한 보철들이 어떤 블록·쉐이드로 깎았는지 통계내주는 시스템”을 신규 제안 — 검증 안 된 4번째 아이디어, 로드맵 3단계 이후 검토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분석: '치과에 다시 확인해야 하는 케이스'는 3명 중 3명(100%) 공통 언급 — 문제3(누락 알림)의 가장 강한 근거. '재료·쉐이드·임플란트 정보 누락'은 3명 중 2명(67%) 언급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A-10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구조 지표 및 경쟁사 자본 유입 시계열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082528" y="411480"/>
            <a:ext cx="118872" cy="1188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411480"/>
            <a:ext cx="118872" cy="118872"/>
          </a:xfrm>
          <a:prstGeom prst="ellipse">
            <a:avLst/>
          </a:prstGeom>
          <a:solidFill>
            <a:srgbClr val="DE9B26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11480"/>
            <a:ext cx="118872" cy="118872"/>
          </a:xfrm>
          <a:prstGeom prst="ellipse">
            <a:avLst/>
          </a:prstGeom>
          <a:solidFill>
            <a:srgbClr val="CE4444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309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21031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출처/산출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치과기공소 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4,635개소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행정안전부(2023)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치과 병·의원 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19,000개소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국민건강보험공단(2023)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치과기공사 면허등록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43,680명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보건복지부(2025)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치과기공사 활동인력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E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22,346명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보건복지부(2025) → 이탈률 약 48.8%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기공소당 평균 종사인력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4.8명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활동인력 ÷ 기공소 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기공소당 거래 치과 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E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4.9개('18)→4.2개('23)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행안부·건보공단 — 수주 경쟁 심화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종이 의뢰서 기반 업무 비중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 이상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업계 조사 인용(1차 출처 미상)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737360"/>
          <a:ext cx="432511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71600"/>
                <a:gridCol w="13533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큐라움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 140억원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 350억원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이노바이드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(덴트링크)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5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Pre-A(비공개)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 170억원+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315200" y="3383280"/>
            <a:ext cx="4325112" cy="2057400"/>
          </a:xfrm>
          <a:prstGeom prst="roundRect">
            <a:avLst>
              <a:gd name="adj" fmla="val 3111"/>
            </a:avLst>
          </a:prstGeom>
          <a:solidFill>
            <a:srgbClr val="E8F2F3"/>
          </a:solidFill>
          <a:ln/>
        </p:spPr>
      </p:sp>
      <p:sp>
        <p:nvSpPr>
          <p:cNvPr id="10" name="Text 6"/>
          <p:cNvSpPr/>
          <p:nvPr/>
        </p:nvSpPr>
        <p:spPr>
          <a:xfrm>
            <a:off x="7543800" y="3566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SOM(1,800개소) 산출 로직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543800" y="388620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활동기공사 22,346명 ÷ 기공소 4,635개소 = 평균 4.8명. 1~2인 영세 기공소가 다수인 우편향 분포 감안 시 5인 이상 세그먼트는 전체의 약 35~40%로 추정 → 약 1,800개소. 3년 목표 110개소(침투율 6.1%)는 초기 버티컬 SaaS 3년차 통상 침투율 5~7% 범위 내에서 데이터 민감성을 감안해 보수적으로 설정.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48640" y="52578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725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경쟁사 모두 약 2년 반 사이 자본 유입이 크게 가속화됨 — “화이트스페이스는 시간제한적 기회”라는 결론(섹션 6)의 실증 데이터. 독일·영국에서는 이미 사모펀드 주도 기공소 롤업(Flemming Dental, Corus 등)이 진행 중.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63367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CrownOps 시장분석 보고서(2026.07), 행정안전부·국민건강보험공단·보건복지부 통계 재인용, 큐라움 리포트(삼성증권, 2024.01)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2026-07-20T07:31:50Z</dcterms:created>
  <dcterms:modified xsi:type="dcterms:W3CDTF">2026-07-20T07:31:50Z</dcterms:modified>
</cp:coreProperties>
</file>