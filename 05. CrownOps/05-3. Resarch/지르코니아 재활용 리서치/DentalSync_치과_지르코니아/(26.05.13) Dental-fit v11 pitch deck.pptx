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핵심 메시지를 1문장으로 먼저 말한 뒤, 숫자와 인용으로 근거를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Cover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512064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지르코니아 낭비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뒤의 진짜 문제를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줄입니다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3017520"/>
            <a:ext cx="4754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 핸드오프 오류를 공정 시작 전에 감지하는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공정 진단 SaaS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078224"/>
            <a:ext cx="324612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22452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v11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422452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5분 발표 · 7 slides + appendix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680960" y="1051560"/>
            <a:ext cx="2514600" cy="2514600"/>
          </a:xfrm>
          <a:prstGeom prst="ellipse">
            <a:avLst/>
          </a:prstGeom>
          <a:solidFill>
            <a:srgbClr val="F0F3F8"/>
          </a:solidFill>
          <a:ln w="12700">
            <a:solidFill>
              <a:srgbClr val="F0F3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65592" y="1536192"/>
            <a:ext cx="1545336" cy="1545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118872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155E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8900000">
            <a:off x="10241280" y="868680"/>
            <a:ext cx="219456" cy="2103120"/>
          </a:xfrm>
          <a:prstGeom prst="parallelogram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8900000">
            <a:off x="10579608" y="658368"/>
            <a:ext cx="228600" cy="2423160"/>
          </a:xfrm>
          <a:prstGeom prst="parallelogram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900000">
            <a:off x="10917936" y="877824"/>
            <a:ext cx="201168" cy="2057400"/>
          </a:xfrm>
          <a:prstGeom prst="parallelogram">
            <a:avLst/>
          </a:prstGeom>
          <a:solidFill>
            <a:srgbClr val="9DB7FF"/>
          </a:solidFill>
          <a:ln w="12700">
            <a:solidFill>
              <a:srgbClr val="9DB7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08976" y="3703320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 ERROR DETECTION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4325112"/>
            <a:ext cx="4498848" cy="91440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4471416"/>
            <a:ext cx="416966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“효율은 곁들이는 거고,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문제는 잘못 깎는 거예요.”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1112" y="5020056"/>
            <a:ext cx="41696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BFC6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기공소 대표 인터뷰, 2026-05-12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지르코니아 낭비는 결과. 원인은 CAM 핸드오프 오류와 비표준 운영.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Problem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손실은 한 번이 아니라, 매일 반복됩니다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현장은 “하나 더 깎으면 되지”로 넘기지만, 반복되면 시간과 돈이 사라집니다.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4800600" cy="1847088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9384"/>
            <a:ext cx="447141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“지르코니아 쓰레기통을 따로 뒀어요.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 치 모아보니까 컵이 꽉 채워지더라고요.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매일 한두 개지만, 1년 쌓이면 어마어마해요.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그게 다 돈이에요. 시간이고요.”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22960" y="3410712"/>
            <a:ext cx="44714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BFC6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기공소 대표 인터뷰, 2026-05-12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806440" y="1792224"/>
            <a:ext cx="131673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잘못 깎는 사고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5916168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 2–3회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78624" y="1792224"/>
            <a:ext cx="131673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8352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재작업 비용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388352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5천원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50808" y="1792224"/>
            <a:ext cx="131673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0536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손실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860536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4–6만원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22992" y="1792224"/>
            <a:ext cx="131673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0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연간 손실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0332720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50–80만원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06440" y="3145536"/>
            <a:ext cx="3566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매일 반복되는 손실의 누적 구조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52160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9712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68896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27264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6448" y="3584448"/>
            <a:ext cx="237744" cy="201168"/>
          </a:xfrm>
          <a:prstGeom prst="rect">
            <a:avLst/>
          </a:prstGeom>
          <a:solidFill>
            <a:srgbClr val="E5E7E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5632" y="3584448"/>
            <a:ext cx="237744" cy="201168"/>
          </a:xfrm>
          <a:prstGeom prst="rect">
            <a:avLst/>
          </a:prstGeom>
          <a:solidFill>
            <a:srgbClr val="C9D8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3895344"/>
            <a:ext cx="237744" cy="201168"/>
          </a:xfrm>
          <a:prstGeom prst="rect">
            <a:avLst/>
          </a:prstGeom>
          <a:solidFill>
            <a:srgbClr val="C9D8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1344" y="3895344"/>
            <a:ext cx="237744" cy="201168"/>
          </a:xfrm>
          <a:prstGeom prst="rect">
            <a:avLst/>
          </a:prstGeom>
          <a:solidFill>
            <a:srgbClr val="C9D8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0528" y="3895344"/>
            <a:ext cx="237744" cy="201168"/>
          </a:xfrm>
          <a:prstGeom prst="rect">
            <a:avLst/>
          </a:prstGeom>
          <a:solidFill>
            <a:srgbClr val="C9D8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9712" y="3895344"/>
            <a:ext cx="237744" cy="201168"/>
          </a:xfrm>
          <a:prstGeom prst="rect">
            <a:avLst/>
          </a:prstGeom>
          <a:solidFill>
            <a:srgbClr val="C9D8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3895344"/>
            <a:ext cx="237744" cy="201168"/>
          </a:xfrm>
          <a:prstGeom prst="rect">
            <a:avLst/>
          </a:prstGeom>
          <a:solidFill>
            <a:srgbClr val="C9D8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3895344"/>
            <a:ext cx="237744" cy="201168"/>
          </a:xfrm>
          <a:prstGeom prst="rect">
            <a:avLst/>
          </a:prstGeom>
          <a:solidFill>
            <a:srgbClr val="FFDBD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27264" y="3895344"/>
            <a:ext cx="237744" cy="201168"/>
          </a:xfrm>
          <a:prstGeom prst="rect">
            <a:avLst/>
          </a:prstGeom>
          <a:solidFill>
            <a:srgbClr val="FFDBD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56448" y="3895344"/>
            <a:ext cx="237744" cy="201168"/>
          </a:xfrm>
          <a:prstGeom prst="rect">
            <a:avLst/>
          </a:prstGeom>
          <a:solidFill>
            <a:srgbClr val="FFDBD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85632" y="3895344"/>
            <a:ext cx="237744" cy="201168"/>
          </a:xfrm>
          <a:prstGeom prst="rect">
            <a:avLst/>
          </a:prstGeom>
          <a:solidFill>
            <a:srgbClr val="FFDBD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79408" y="3730752"/>
            <a:ext cx="731520" cy="0"/>
          </a:xfrm>
          <a:prstGeom prst="line">
            <a:avLst/>
          </a:prstGeom>
          <a:noFill/>
          <a:ln w="17780">
            <a:solidFill>
              <a:srgbClr val="155EE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829800" y="3383280"/>
            <a:ext cx="1700784" cy="786384"/>
          </a:xfrm>
          <a:prstGeom prst="roundRect">
            <a:avLst/>
          </a:prstGeom>
          <a:solidFill>
            <a:srgbClr val="FFF1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85248" y="3566160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기공소 1곳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 50–80만원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" y="4014216"/>
            <a:ext cx="2743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폐기 처리 비용은 별도 발생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달 5–6만원 수준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58368" y="4828032"/>
            <a:ext cx="10881360" cy="585216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" y="4965192"/>
            <a:ext cx="9784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현장이 체감하지 못하는 사이, 손실은 매일 반복되고 있습니다.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숫자는 티핏 기공소 인터뷰 기반 1차 실측/추정치.</a:t>
            </a:r>
            <a:endParaRPr lang="en-US" sz="640" dirty="0"/>
          </a:p>
        </p:txBody>
      </p:sp>
      <p:sp>
        <p:nvSpPr>
          <p:cNvPr id="48" name="Text 46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Why We Stay in Milling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이 손실은 구조적으로 반복될까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잔재를 0으로 만드는 것이 아니라, 불필요한 손실을 줄이는 문제입니다.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64792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438912" cy="25603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965960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2304288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고객이 원하는 것은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2706624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지르코니아 자체가 아니라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기능·강도·심미성을 만족하는 보철물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0" y="2679192"/>
            <a:ext cx="310896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80560" y="1764792"/>
            <a:ext cx="3246120" cy="18288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155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47672"/>
            <a:ext cx="438912" cy="256032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965960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63440" y="2304288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신뢰 가능한 상용 방식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2706624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고정 규격 디스크를 깎는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CAD/CAM 밀링 방식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45552" y="2679192"/>
            <a:ext cx="310896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02752" y="1764792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5632" y="1947672"/>
            <a:ext cx="438912" cy="25603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22208" y="1965960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85632" y="2304288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구조적으로 생기는 부산물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85632" y="2706624"/>
            <a:ext cx="2834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환자 맞춤 보철을 깎는 순간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잔재는 예외가 아니라 공정 결과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43000" y="4069080"/>
            <a:ext cx="4251960" cy="74980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4215384"/>
            <a:ext cx="392277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“강도와 쉐이드가 가장 큰 병목. AON도 사업 중단.”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07592" y="4599432"/>
            <a:ext cx="39227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배은정 교수 인터뷰, 2026-05-06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806440" y="4023360"/>
            <a:ext cx="5102352" cy="896112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4178808"/>
            <a:ext cx="4572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즉, 잔재 자체는 구조적으로 생깁니다.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그 안의 “불필요한 손실”입니다.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프린팅 대체보다 현재 공정 내부의 손실 감지가 현실적인 출발점.</a:t>
            </a:r>
            <a:endParaRPr lang="en-US" sz="640" dirty="0"/>
          </a:p>
        </p:txBody>
      </p:sp>
      <p:sp>
        <p:nvSpPr>
          <p:cNvPr id="30" name="Text 28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Why Now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그런데 왜 아무도 이 문제를 안 풀었을까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문제는 있었지만, 어느 층도 “공정 손실”을 핵심 KPI로 보지 않았습니다.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76656" y="1737360"/>
            <a:ext cx="2359152" cy="131673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 업체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2104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재고 단순화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일관성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56432" y="1737360"/>
            <a:ext cx="2359152" cy="131673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장비·CAM 업체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재현성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속도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1737360"/>
            <a:ext cx="2359152" cy="131673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기공소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91656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납기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적합도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재작업 대응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15984" y="1737360"/>
            <a:ext cx="2359152" cy="1316736"/>
          </a:xfrm>
          <a:prstGeom prst="roundRect">
            <a:avLst/>
          </a:prstGeom>
          <a:solidFill>
            <a:srgbClr val="155EEF"/>
          </a:solidFill>
          <a:ln w="10160">
            <a:solidFill>
              <a:srgbClr val="155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71432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비어 있는 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71432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 손실 측정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D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감지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D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workflow 표준화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" y="3493008"/>
            <a:ext cx="10735056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602736"/>
            <a:ext cx="102687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손실은 존재하지만, 누구도 공정 손실 자체를 독립적으로 측정하고 줄이는 역할을 맡지 않았습니다.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94944" y="4407408"/>
            <a:ext cx="4297680" cy="7315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553712"/>
            <a:ext cx="396849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“이게 나만 문제인가? 다른 기공소는 문제라고 생각도 안 하고 있어요.”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9536" y="4919472"/>
            <a:ext cx="3968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대표, 2026-05-12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321808" y="4370832"/>
            <a:ext cx="2788920" cy="85039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4507992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지금인가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2120" y="4727448"/>
            <a:ext cx="2331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숙련자 부족과 인건비 증가로</a:t>
            </a:r>
            <a:endParaRPr lang="en-US" sz="1060" dirty="0"/>
          </a:p>
          <a:p>
            <a:pPr algn="l" indent="0" marL="0">
              <a:buNone/>
            </a:pPr>
            <a:r>
              <a:rPr lang="en-US" sz="10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“사람으로 메꾸는” 방식이 한계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8348472" y="4370832"/>
            <a:ext cx="3054096" cy="850392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C7D7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450799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스타트업 자리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58784" y="4727448"/>
            <a:ext cx="2587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software layer 부재 → 외부 독립</a:t>
            </a:r>
            <a:endParaRPr lang="en-US" sz="1060" dirty="0"/>
          </a:p>
          <a:p>
            <a:pPr algn="l" indent="0" marL="0">
              <a:buNone/>
            </a:pPr>
            <a:r>
              <a:rPr lang="en-US" sz="10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레이어가 들어갈 여지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산업 KPI의 빈칸이 Dental-fit의 진입점.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Rejected Hypotheses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저희는 두 가설을 먼저 버렸습니다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가설을 접은 이유가 명확해야 지금 솔루션의 뾰족함이 보입니다.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4919472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984248"/>
            <a:ext cx="694944" cy="256032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02536"/>
            <a:ext cx="6217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50976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재활용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87552" y="2862072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2743200"/>
            <a:ext cx="3035808" cy="268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 업체 이미 존재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87552" y="3130296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011424"/>
            <a:ext cx="3035808" cy="268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버려진 뒤를 처리하는 방식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87552" y="3398520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279648"/>
            <a:ext cx="3035808" cy="268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미해결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50976" y="3685032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K&amp;D 기공소 인터뷰 기반 기각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419088" y="1783080"/>
            <a:ext cx="4919472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8544" y="1984248"/>
            <a:ext cx="694944" cy="256032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02536"/>
            <a:ext cx="6217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38544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프린팅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675120" y="2862072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2743200"/>
            <a:ext cx="3401568" cy="268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강도·쉐이드 병목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675120" y="3130296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3011424"/>
            <a:ext cx="3401568" cy="268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상용화 장벽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675120" y="3398520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3279648"/>
            <a:ext cx="3401568" cy="268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학생팀 단기 사업으로는 부적합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638544" y="3685032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배은정 교수 인터뷰 기반 기각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768096" y="4736592"/>
            <a:ext cx="10497312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882896"/>
            <a:ext cx="998524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재활용은 결과 처리, 3D 프린팅은 공정 우회였습니다.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저희는 공정 안에서 반복되는 손실의 원인을 직접 보기로 했습니다.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 기각은 피벗이 아니라 문제 영역을 좁히는 검증 과정.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Root Cause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문제는 지르코니아가 많이 버려진다는 사실이 아닙니다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원인은 디자인 파일이 CAM으로 넘어가는 과정의 오류와 비표준 운영입니다.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2084832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56816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" y="217627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파일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62072" y="2203704"/>
            <a:ext cx="448056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02152" y="1828800"/>
            <a:ext cx="2084832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956816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48456" y="217627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폴더/수정본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50992" y="2203704"/>
            <a:ext cx="448056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91072" y="1828800"/>
            <a:ext cx="2084832" cy="7498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155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956816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37376" y="217627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 업로드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39912" y="2203704"/>
            <a:ext cx="448056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79992" y="1828800"/>
            <a:ext cx="2084832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26296" y="1956816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226296" y="217627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밀링 실행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06040" y="2971800"/>
            <a:ext cx="228600" cy="201168"/>
          </a:xfrm>
          <a:prstGeom prst="triangl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2953512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파일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51376" y="3310128"/>
            <a:ext cx="228600" cy="201168"/>
          </a:xfrm>
          <a:prstGeom prst="triangl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3291840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수정본/원본 혼입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2971800"/>
            <a:ext cx="228600" cy="201168"/>
          </a:xfrm>
          <a:prstGeom prst="triangl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2953512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어버트먼트 미매칭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01584" y="3310128"/>
            <a:ext cx="228600" cy="201168"/>
          </a:xfrm>
          <a:prstGeom prst="triangl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291840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검수 누락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4169664"/>
            <a:ext cx="3913632" cy="86868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315968"/>
            <a:ext cx="35844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“효율은 곁들이는 거고,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문제는 잘못 깎는 거예요.”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" y="4818888"/>
            <a:ext cx="358444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BFC6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대표, 2026-05-12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937760" y="4169664"/>
            <a:ext cx="315468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4315968"/>
            <a:ext cx="2825496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“배치가 아니라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핸드오프에서 실수가 난다.”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02352" y="4818888"/>
            <a:ext cx="2825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대표, 2026-05-12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8412480" y="4059936"/>
            <a:ext cx="2798064" cy="100584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C7D7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31936" y="4215384"/>
            <a:ext cx="4572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31936" y="4443984"/>
            <a:ext cx="23225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지르코니아 낭비는 결과.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원인은 CAM 핸드오프 오류와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비표준 운영.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독립 레이어가 필요한 이유: 디스크 업체·장비사의 KPI 밖, 기공소의 R&amp;D 여력 밖.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Solution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Dental-fit은 CAM 휴먼에러를 줄이는 공정 진단 SaaS입니다</a:t>
            </a:r>
            <a:endParaRPr lang="en-US" sz="202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CAD/CAM이 아니라, 기존 CAD/CAM 위에 얹는 오류 감지·진단 레이어입니다.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68096" y="1755648"/>
            <a:ext cx="3675888" cy="3108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56816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공정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78992" y="2377440"/>
            <a:ext cx="26974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450592"/>
            <a:ext cx="2331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CAD 디자인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1078992" y="2926080"/>
            <a:ext cx="26974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99232"/>
            <a:ext cx="2331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폴더/파일 전달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78992" y="3474720"/>
            <a:ext cx="26974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547872"/>
            <a:ext cx="2331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 실행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78992" y="4023360"/>
            <a:ext cx="26974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096512"/>
            <a:ext cx="2331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밀링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78992" y="4407408"/>
            <a:ext cx="2697480" cy="329184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489704"/>
            <a:ext cx="226771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오류 감지 레이어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23160" y="4279392"/>
            <a:ext cx="0" cy="128016"/>
          </a:xfrm>
          <a:prstGeom prst="line">
            <a:avLst/>
          </a:prstGeom>
          <a:noFill/>
          <a:ln w="12700">
            <a:solidFill>
              <a:srgbClr val="155EE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92040" y="1783080"/>
            <a:ext cx="713232" cy="512064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1810512"/>
            <a:ext cx="60350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순위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605272" y="1783080"/>
            <a:ext cx="1207008" cy="512064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0136" y="1810512"/>
            <a:ext cx="1097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812280" y="1783080"/>
            <a:ext cx="4352544" cy="512064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1810512"/>
            <a:ext cx="42428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892040" y="2295144"/>
            <a:ext cx="713232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2322576"/>
            <a:ext cx="60350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1순위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605272" y="2295144"/>
            <a:ext cx="1207008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0136" y="2322576"/>
            <a:ext cx="1097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 오류 감지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812280" y="2295144"/>
            <a:ext cx="4352544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2322576"/>
            <a:ext cx="42428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파일 · 누락 파일 · 어버트먼트 미매칭 · 실행 전 오류 방어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892040" y="2807208"/>
            <a:ext cx="713232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2834640"/>
            <a:ext cx="60350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2순위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605272" y="2807208"/>
            <a:ext cx="1207008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0136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수율 진단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812280" y="2807208"/>
            <a:ext cx="4352544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67144" y="2834640"/>
            <a:ext cx="42428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 사용 패턴 시각화 · 반복 손실 구간 리포트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4919472" y="3703320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하지 않는 것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56048" y="4123944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005072"/>
            <a:ext cx="2852928" cy="225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CAD/CAM을 다시 만들지 않음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956048" y="4349496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230624"/>
            <a:ext cx="2852928" cy="225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공정을 통째로 대체하지 않음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956048" y="4575048"/>
            <a:ext cx="82296" cy="822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4456176"/>
            <a:ext cx="2852928" cy="225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자동 최적화를 약속하지 않음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8321040" y="3703320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먼저 하는 것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21040" y="3968496"/>
            <a:ext cx="2852928" cy="713232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C7D7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0496" y="4133088"/>
            <a:ext cx="2423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반복해서 놓치는 오류를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공정이 시작되기 전에 잡아주는 것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768096" y="5340096"/>
            <a:ext cx="10378440" cy="32004"/>
          </a:xfrm>
          <a:prstGeom prst="rect">
            <a:avLst/>
          </a:prstGeom>
          <a:solidFill>
            <a:srgbClr val="D9DEE8"/>
          </a:solidFill>
          <a:ln w="12700">
            <a:solidFill>
              <a:srgbClr val="D9DEE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555955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시작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60120" y="5806440"/>
            <a:ext cx="2194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 핸드오프 오류 감지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3246120" y="5852160"/>
            <a:ext cx="1508760" cy="0"/>
          </a:xfrm>
          <a:prstGeom prst="line">
            <a:avLst/>
          </a:prstGeom>
          <a:noFill/>
          <a:ln w="12700">
            <a:solidFill>
              <a:srgbClr val="155EEF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4983480" y="555955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83480" y="5806440"/>
            <a:ext cx="5212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기공소 수율 데이터 누적 → 숙련자 암묵지의 workflow 표준화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 메시지: 덜 버리는 팀이 아니라, CAM 공정 실수를 줄여 재작업과 손실을 함께 줄이는 팀.</a:t>
            </a:r>
            <a:endParaRPr lang="en-US" sz="640" dirty="0"/>
          </a:p>
        </p:txBody>
      </p:sp>
      <p:sp>
        <p:nvSpPr>
          <p:cNvPr id="55" name="Text 53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Appendix Data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가짜문 프리토타입 데이터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기간: 2026-05-07 ~ 05-12 · URL: dental-fit.vercel.app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64792"/>
            <a:ext cx="3063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56232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22960" y="2093976"/>
            <a:ext cx="284378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76명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43984" y="1764792"/>
            <a:ext cx="3063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856232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페이지뷰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4553712" y="2093976"/>
            <a:ext cx="284378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126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74736" y="1764792"/>
            <a:ext cx="3063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856232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CTA 클릭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8284464" y="2093976"/>
            <a:ext cx="284378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 / 16%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3232" y="2889504"/>
            <a:ext cx="3063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80944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폼 시작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22960" y="3218688"/>
            <a:ext cx="284378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43984" y="2889504"/>
            <a:ext cx="3063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2980944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연락처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553712" y="3218688"/>
            <a:ext cx="284378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/ 3%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174736" y="2889504"/>
            <a:ext cx="3063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980944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체류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8284464" y="3218688"/>
            <a:ext cx="284378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36초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13232" y="4407408"/>
            <a:ext cx="4754880" cy="91440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C7D7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53712"/>
            <a:ext cx="868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기관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828032"/>
            <a:ext cx="3566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티핏기공소 · 내츄럴오랄디자인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806440" y="4407408"/>
            <a:ext cx="5138928" cy="914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4553712"/>
            <a:ext cx="457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6752" y="4773168"/>
            <a:ext cx="4526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클릭률 16% = 호기심 단계까지는 통함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전환율 3% = 행동 단계까지는 못 감 → “무료 진단/리포트” 메시지 A/B 예정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Appendix: 본편 발표 이후 검증 근거로 제출.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Appendix Objections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Dental2804 실무자 반박 3건 + 응답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부정적 피드백을 숨기지 않고, 가설을 좁히는 근거로 사용합니다.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94944" y="1691640"/>
            <a:ext cx="1325880" cy="749808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19072"/>
            <a:ext cx="121615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실무자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020824" y="1691640"/>
            <a:ext cx="2971800" cy="749808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719072"/>
            <a:ext cx="286207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반박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992624" y="1691640"/>
            <a:ext cx="6492240" cy="749808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19072"/>
            <a:ext cx="63825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94944" y="2441448"/>
            <a:ext cx="1325880" cy="74980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121615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이빨도깨비방망이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020824" y="2441448"/>
            <a:ext cx="2971800" cy="74980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5688" y="2468880"/>
            <a:ext cx="286207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무게중심·형상 때문에 배치 여지 작을 듯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992624" y="2441448"/>
            <a:ext cx="6492240" cy="74980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468880"/>
            <a:ext cx="63825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인정 → 배치 아닌 CAM 핸드오프 오류 감지로 포지셔닝 수정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94944" y="3191256"/>
            <a:ext cx="13258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218688"/>
            <a:ext cx="121615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동동이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020824" y="3191256"/>
            <a:ext cx="29718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3218688"/>
            <a:ext cx="286207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예시·숫자 없으면 설득 안 됨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992624" y="3191256"/>
            <a:ext cx="6492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218688"/>
            <a:ext cx="63825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인터뷰로 주 2–3회 × 5천원 실측 확보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94944" y="3941064"/>
            <a:ext cx="1325880" cy="74980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968496"/>
            <a:ext cx="121615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미스터Go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020824" y="3941064"/>
            <a:ext cx="2971800" cy="74980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5688" y="3968496"/>
            <a:ext cx="286207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업로드·다운로드 시간이 수동보다 느릴 듯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992624" y="3941064"/>
            <a:ext cx="6492240" cy="74980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968496"/>
            <a:ext cx="63825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감지는 배치 재계산 없이 체크만 → 마찰 최소화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94944" y="5166360"/>
            <a:ext cx="10789920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321808"/>
            <a:ext cx="10149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반박 모두 “배치 최적화”에서 “오류 감지”로 문제를 더 좁혀준 검증 신호입니다.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반박을 방어 논리가 아니라 방향 수정의 근거로 전환.</a:t>
            </a:r>
            <a:endParaRPr lang="en-US" sz="640" dirty="0"/>
          </a:p>
        </p:txBody>
      </p:sp>
      <p:sp>
        <p:nvSpPr>
          <p:cNvPr id="34" name="Text 32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Appendix Interview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기공소 인터뷰 핵심 인용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2026-05-12 · 93분 · 기공사 출신 대표 / 기공소 매출 2억 / 영업이익률 25–30%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691640"/>
            <a:ext cx="4846320" cy="713232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837944"/>
            <a:ext cx="45171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“효율은 곁들이는 거고, 진짜 문제는 잘못 깎는 거예요.”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185416"/>
            <a:ext cx="45171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BFC6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인식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870448" y="1691640"/>
            <a:ext cx="5212080" cy="71323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837944"/>
            <a:ext cx="488289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“지르코니아 쓰레기통, 한 달 모아보니 컵 가득.”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2185416"/>
            <a:ext cx="48828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손실 체감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13232" y="2807208"/>
            <a:ext cx="4846320" cy="89611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953512"/>
            <a:ext cx="451713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“디자이너가 폴더에 파일 빼놓으면 CAM 거는 사람이 드래그로 일괄 업로드 → 중복·누락·미매칭 미체크.”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7824" y="3483864"/>
            <a:ext cx="451713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휴먼에러 양상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5870448" y="2807208"/>
            <a:ext cx="5212080" cy="89611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953512"/>
            <a:ext cx="48828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“어버트먼트 종류 많은데 육안 확인 실패 시 잘못 밀링.”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483864"/>
            <a:ext cx="48828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휴먼에러 양상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713232" y="4315968"/>
            <a:ext cx="1828800" cy="347472"/>
          </a:xfrm>
          <a:prstGeom prst="rect">
            <a:avLst/>
          </a:prstGeom>
          <a:solidFill>
            <a:srgbClr val="155EE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343400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 감도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42032" y="4315968"/>
            <a:ext cx="8540496" cy="347472"/>
          </a:xfrm>
          <a:prstGeom prst="rect">
            <a:avLst/>
          </a:prstGeom>
          <a:solidFill>
            <a:srgbClr val="155EE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6896" y="4343400"/>
            <a:ext cx="84307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4663440"/>
            <a:ext cx="1828800" cy="34747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4690872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42032" y="4663440"/>
            <a:ext cx="8540496" cy="34747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4690872"/>
            <a:ext cx="84307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10만원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3232" y="5010912"/>
            <a:ext cx="182880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5038344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 검증 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42032" y="5010912"/>
            <a:ext cx="8540496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96896" y="5038344"/>
            <a:ext cx="84307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30–50만원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" y="5358384"/>
            <a:ext cx="1828800" cy="34747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5385816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현실 지불 의향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42032" y="5358384"/>
            <a:ext cx="8540496" cy="34747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5385816"/>
            <a:ext cx="84307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20만원이면 쓰겠다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" y="5705856"/>
            <a:ext cx="182880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733288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베타 가능성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42032" y="5705856"/>
            <a:ext cx="8540496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96896" y="5733288"/>
            <a:ext cx="84307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도와드릴 용의 있어요 / 거래처 4천 개 이상 보유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슬라이드는 Q&amp;A에서 문제 정의·가격·베타 가능성을 방어하기 위한 근거.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 Appendix Evidence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K&amp;D / 배은정 교수 핵심 인용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재활용·3D 프린팅 가설 기각과 외부 진단 도구 정당화 근거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5074920" cy="3218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84248"/>
            <a:ext cx="1920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K&amp;D 기공소 · 2026-05-04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2478024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359152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“이미 수거 업체 있고, 두 달에 5–6만 원 내고 폐기 업체에 맡기는 게 더 편해요.”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960120" y="2884932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766060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재활용 가설 기각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960120" y="3291840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172968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“자동 배치는 있지만 결국 다시 손봅니다. 객관적 기준이 없으니 감으로 하죠.”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960120" y="3698748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579876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측정 부재 확인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074920" cy="3218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984248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배은정 교수 · 부천대 · 2026-05-06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46520" y="2478024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2359152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“강도와 쉐이드가 가장 큰 병목. AON도 사업 중단.”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446520" y="2884932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2766060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3D 프린팅 가설 기각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446520" y="3291840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3172968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“배치 효율을 객관화된 지표로 도출한 논문은 잘 알려져 있지 않습니다.”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446520" y="3698748"/>
            <a:ext cx="82296" cy="82296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3579876"/>
            <a:ext cx="4270248" cy="4069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“외부 공정에서 한 번 더 조정·보완하는 방식이 현실적.”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13232" y="5413248"/>
            <a:ext cx="10561320" cy="73152"/>
          </a:xfrm>
          <a:prstGeom prst="rect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623560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결론: 폐기 후 처리나 공정 대체보다, 현재 공정 위의 외부 진단 레이어가 가장 현실적인 출발점입니다.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 Appendix Q&amp;A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 대비 핵심 12개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심사위원이 물을 가능성이 높은 질문에 짧고 방어 가능한 답을 준비합니다.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1051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2024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프로토타입도 없는데 발표?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877824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주제는 제품 완성이 아니라 검증 여정. 인터뷰 3회로 가설 3번 수정.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13232" y="2816352"/>
            <a:ext cx="5074920" cy="7863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2608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가짜문 76명이면 적지 않나?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77824" y="316382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신호. 다음 채널은 치기공 그룹·협회.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13232" y="382219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3192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전환율 3%는 실패?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877824" y="416966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판매 메시지로는 약함. 무료 진단/리포트 A/B 예정.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13232" y="4828032"/>
            <a:ext cx="5074920" cy="7863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93776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CAM이 이미 하지 않나?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77824" y="517550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배치가 아니라 파일 중복·미매칭 체크가 핵심.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199632" y="181051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92024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가격은?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364224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10만원 → 효과 검증 후 30–50만원.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199632" y="2816352"/>
            <a:ext cx="5074920" cy="7863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292608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Ivoclar이 따라하면?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6364224" y="316382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 업체 KPI는 수율 최적화가 아니라 재고·품질 일관성.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199632" y="382219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393192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hyperDENT 자동 배치?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6364224" y="416966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배치 대체가 아니라 오류 감지. 카테고리가 다름.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199632" y="4828032"/>
            <a:ext cx="5074920" cy="7863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4937760"/>
            <a:ext cx="2240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 비전이 큰가?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6364224" y="517550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오류 감지, 데이터 누적 후 표준화. 단계가 분명함.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상세 Q&amp;A는 원고 Appendix A5 참조.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7315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DD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 Appendix Sources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01168" y="438912"/>
            <a:ext cx="11740896" cy="502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20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132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자료 출처와 활용 위치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본문은 인터뷰 중심, 외부 자료는 보강 근거로 배치합니다.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94944" y="1792224"/>
            <a:ext cx="3657600" cy="393192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19656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4352544" y="1792224"/>
            <a:ext cx="4892040" cy="393192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819656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활용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9244584" y="1792224"/>
            <a:ext cx="2258568" cy="393192"/>
          </a:xfrm>
          <a:prstGeom prst="rect">
            <a:avLst/>
          </a:prstGeom>
          <a:solidFill>
            <a:srgbClr val="111111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99448" y="1819656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94944" y="2185416"/>
            <a:ext cx="365760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212848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PMC 11223720 (Khalafi et al., 2024)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352544" y="2185416"/>
            <a:ext cx="48920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212848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폐기율 50% / 재활용 in vitro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9244584" y="2185416"/>
            <a:ext cx="2258568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2212848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Slide 01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94944" y="2578608"/>
            <a:ext cx="365760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606040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Ivoclar IPS e.max ZirCAD Prime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352544" y="2578608"/>
            <a:ext cx="48920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606040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 제조사 KPI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9244584" y="2578608"/>
            <a:ext cx="225856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9448" y="2606040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Slide 04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94944" y="2971800"/>
            <a:ext cx="365760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999232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Kuraray KATANA Zirconia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352544" y="2971800"/>
            <a:ext cx="48920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2999232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 제조사 KPI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9244584" y="2971800"/>
            <a:ext cx="2258568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9448" y="2999232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Slide 04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94944" y="3364992"/>
            <a:ext cx="365760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392424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Tosoh 분말 capacity release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4352544" y="3364992"/>
            <a:ext cx="48920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3392424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분말 공급사 배경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9244584" y="3364992"/>
            <a:ext cx="225856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99448" y="3392424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694944" y="3758184"/>
            <a:ext cx="365760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3785616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hyperDENT 리셀러 구조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4352544" y="3758184"/>
            <a:ext cx="48920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07408" y="3785616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장비·CAM KPI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9244584" y="3758184"/>
            <a:ext cx="2258568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9448" y="3785616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Slide 04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694944" y="4151376"/>
            <a:ext cx="365760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4178808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K&amp;D 기공소 인터뷰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4352544" y="4151376"/>
            <a:ext cx="48920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07408" y="4178808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재활용 기각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9244584" y="4151376"/>
            <a:ext cx="225856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99448" y="4178808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Slide 05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694944" y="4544568"/>
            <a:ext cx="365760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4572000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배은정 교수 인터뷰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4352544" y="4544568"/>
            <a:ext cx="4892040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07408" y="4572000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프린팅 기각 / 측정 부재</a:t>
            </a:r>
            <a:endParaRPr lang="en-US" sz="770" dirty="0"/>
          </a:p>
        </p:txBody>
      </p:sp>
      <p:sp>
        <p:nvSpPr>
          <p:cNvPr id="53" name="Shape 51"/>
          <p:cNvSpPr/>
          <p:nvPr/>
        </p:nvSpPr>
        <p:spPr>
          <a:xfrm>
            <a:off x="9244584" y="4544568"/>
            <a:ext cx="2258568" cy="393192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99448" y="4572000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Slide 03, 04, 05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694944" y="4937760"/>
            <a:ext cx="365760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" y="4965192"/>
            <a:ext cx="35478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티핏 기공소 인터뷰</a:t>
            </a:r>
            <a:endParaRPr lang="en-US" sz="770" dirty="0"/>
          </a:p>
        </p:txBody>
      </p:sp>
      <p:sp>
        <p:nvSpPr>
          <p:cNvPr id="57" name="Shape 55"/>
          <p:cNvSpPr/>
          <p:nvPr/>
        </p:nvSpPr>
        <p:spPr>
          <a:xfrm>
            <a:off x="4352544" y="4937760"/>
            <a:ext cx="48920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07408" y="4965192"/>
            <a:ext cx="478231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실측 손실 / 포지셔닝 수정</a:t>
            </a:r>
            <a:endParaRPr lang="en-US" sz="770" dirty="0"/>
          </a:p>
        </p:txBody>
      </p:sp>
      <p:sp>
        <p:nvSpPr>
          <p:cNvPr id="59" name="Shape 57"/>
          <p:cNvSpPr/>
          <p:nvPr/>
        </p:nvSpPr>
        <p:spPr>
          <a:xfrm>
            <a:off x="9244584" y="4937760"/>
            <a:ext cx="225856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99448" y="4965192"/>
            <a:ext cx="21488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Slide 02, 04, 06, 07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694944" y="5897880"/>
            <a:ext cx="10808208" cy="3840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C7D7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6112" y="6007608"/>
            <a:ext cx="10424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5E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메시지 원칙: 팀 보고서를 공식 근거처럼 쓰지 않고, 현장 인터뷰·교수 인터뷰·공개 자료 중심으로 방어합니다.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9784080" y="6473952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Dental-fit | CAM 공정 진단 SaaS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Dental-fit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Dental-fit — CAM 공정 진단 SaaS</dc:title>
  <dc:subject>Dental-fit pitch deck</dc:subject>
  <dc:creator>OpenAI</dc:creator>
  <cp:lastModifiedBy>OpenAI</cp:lastModifiedBy>
  <cp:revision>1</cp:revision>
  <dcterms:created xsi:type="dcterms:W3CDTF">2026-05-12T13:17:39Z</dcterms:created>
  <dcterms:modified xsi:type="dcterms:W3CDTF">2026-05-12T13:17:39Z</dcterms:modified>
</cp:coreProperties>
</file>